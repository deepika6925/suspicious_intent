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handoutMasterIdLst>
    <p:handoutMasterId r:id="rId19"/>
  </p:handoutMasterIdLst>
  <p:sldIdLst>
    <p:sldId id="256" r:id="rId2"/>
    <p:sldId id="259" r:id="rId3"/>
    <p:sldId id="327" r:id="rId4"/>
    <p:sldId id="333" r:id="rId5"/>
    <p:sldId id="328" r:id="rId6"/>
    <p:sldId id="350" r:id="rId7"/>
    <p:sldId id="335" r:id="rId8"/>
    <p:sldId id="334" r:id="rId9"/>
    <p:sldId id="352" r:id="rId10"/>
    <p:sldId id="330" r:id="rId11"/>
    <p:sldId id="353" r:id="rId12"/>
    <p:sldId id="345" r:id="rId13"/>
    <p:sldId id="351" r:id="rId14"/>
    <p:sldId id="347" r:id="rId15"/>
    <p:sldId id="349" r:id="rId16"/>
    <p:sldId id="326" r:id="rId1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53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94660"/>
  </p:normalViewPr>
  <p:slideViewPr>
    <p:cSldViewPr>
      <p:cViewPr>
        <p:scale>
          <a:sx n="66" d="100"/>
          <a:sy n="66" d="100"/>
        </p:scale>
        <p:origin x="1954" y="34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349C0CB-3077-4A2C-A263-34908B18F16F}"/>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F70FDBD4-CECE-4489-86D6-D12748BF1922}"/>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18AD1CAA-8E5C-49F6-8938-72360B2BE9BA}" type="datetimeFigureOut">
              <a:rPr lang="en-US"/>
              <a:pPr>
                <a:defRPr/>
              </a:pPr>
              <a:t>4/1/2026</a:t>
            </a:fld>
            <a:endParaRPr lang="en-US"/>
          </a:p>
        </p:txBody>
      </p:sp>
      <p:sp>
        <p:nvSpPr>
          <p:cNvPr id="4" name="Footer Placeholder 3">
            <a:extLst>
              <a:ext uri="{FF2B5EF4-FFF2-40B4-BE49-F238E27FC236}">
                <a16:creationId xmlns:a16="http://schemas.microsoft.com/office/drawing/2014/main" id="{EBAF0860-EA4C-470F-953E-A330E0ABA9D4}"/>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5" name="Slide Number Placeholder 4">
            <a:extLst>
              <a:ext uri="{FF2B5EF4-FFF2-40B4-BE49-F238E27FC236}">
                <a16:creationId xmlns:a16="http://schemas.microsoft.com/office/drawing/2014/main" id="{46CD5A3C-3604-4181-BB10-EF1F20AB4155}"/>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E5D8934D-CC79-41E4-84A0-8E210C28D030}"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1F8ED2-BED6-42C2-80BF-D0DDEF1BB6B1}"/>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2E0A5090-DDE5-4846-93BE-A1655C2571B9}"/>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94D85942-DFC5-4B20-B5C9-CCE8F5D93199}" type="datetimeFigureOut">
              <a:rPr lang="en-US"/>
              <a:pPr>
                <a:defRPr/>
              </a:pPr>
              <a:t>4/1/2026</a:t>
            </a:fld>
            <a:endParaRPr lang="en-US"/>
          </a:p>
        </p:txBody>
      </p:sp>
      <p:sp>
        <p:nvSpPr>
          <p:cNvPr id="4" name="Slide Image Placeholder 3">
            <a:extLst>
              <a:ext uri="{FF2B5EF4-FFF2-40B4-BE49-F238E27FC236}">
                <a16:creationId xmlns:a16="http://schemas.microsoft.com/office/drawing/2014/main" id="{B4DCBBA6-3CFE-454C-915B-2F557CCB50CF}"/>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1FA9522D-261C-456E-9909-C0D312DD7BCA}"/>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668F42A2-8DE7-4D71-92CA-346712661AC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45F32067-15CE-4CFC-88B9-89B3A0F219E7}"/>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A6A9F5FE-36A4-49E1-AC13-A222A2289585}" type="slidenum">
              <a:rPr lang="en-US" altLang="en-US"/>
              <a:pPr/>
              <a:t>‹#›</a:t>
            </a:fld>
            <a:endParaRPr lang="en-US" altLang="en-US"/>
          </a:p>
        </p:txBody>
      </p:sp>
    </p:spTree>
    <p:extLst>
      <p:ext uri="{BB962C8B-B14F-4D97-AF65-F5344CB8AC3E}">
        <p14:creationId xmlns:p14="http://schemas.microsoft.com/office/powerpoint/2010/main" val="1317210240"/>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7840EE95-7363-4926-B290-3A8210046C0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Notes Placeholder 2">
            <a:extLst>
              <a:ext uri="{FF2B5EF4-FFF2-40B4-BE49-F238E27FC236}">
                <a16:creationId xmlns:a16="http://schemas.microsoft.com/office/drawing/2014/main" id="{63985331-A8BE-46A9-BEEC-B969CF2C8CE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14340" name="Slide Number Placeholder 3">
            <a:extLst>
              <a:ext uri="{FF2B5EF4-FFF2-40B4-BE49-F238E27FC236}">
                <a16:creationId xmlns:a16="http://schemas.microsoft.com/office/drawing/2014/main" id="{464F66CD-1804-40B2-A3A3-A8D525DB9A4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AE71682-A2E8-46DE-A7B3-20F0B3AD6C26}" type="slidenum">
              <a:rPr lang="en-US" altLang="en-US"/>
              <a:pPr/>
              <a:t>2</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A9F5FE-36A4-49E1-AC13-A222A2289585}" type="slidenum">
              <a:rPr lang="en-US" altLang="en-US" smtClean="0"/>
              <a:pPr/>
              <a:t>4</a:t>
            </a:fld>
            <a:endParaRPr lang="en-US" altLang="en-US"/>
          </a:p>
        </p:txBody>
      </p:sp>
    </p:spTree>
    <p:extLst>
      <p:ext uri="{BB962C8B-B14F-4D97-AF65-F5344CB8AC3E}">
        <p14:creationId xmlns:p14="http://schemas.microsoft.com/office/powerpoint/2010/main" val="35555336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4780920D-B6AE-44B7-A614-3E19FD85E578}"/>
              </a:ext>
            </a:extLst>
          </p:cNvPr>
          <p:cNvSpPr>
            <a:spLocks noGrp="1"/>
          </p:cNvSpPr>
          <p:nvPr>
            <p:ph type="dt" sz="half" idx="10"/>
          </p:nvPr>
        </p:nvSpPr>
        <p:spPr/>
        <p:txBody>
          <a:bodyPr/>
          <a:lstStyle>
            <a:lvl1pPr>
              <a:defRPr/>
            </a:lvl1pPr>
          </a:lstStyle>
          <a:p>
            <a:pPr>
              <a:defRPr/>
            </a:pPr>
            <a:fld id="{2685013B-3371-48FC-9407-F92BD42A5CA9}" type="datetime1">
              <a:rPr lang="en-US"/>
              <a:pPr>
                <a:defRPr/>
              </a:pPr>
              <a:t>4/1/2026</a:t>
            </a:fld>
            <a:endParaRPr lang="en-US"/>
          </a:p>
        </p:txBody>
      </p:sp>
      <p:sp>
        <p:nvSpPr>
          <p:cNvPr id="5" name="Footer Placeholder 4">
            <a:extLst>
              <a:ext uri="{FF2B5EF4-FFF2-40B4-BE49-F238E27FC236}">
                <a16:creationId xmlns:a16="http://schemas.microsoft.com/office/drawing/2014/main" id="{E3FADB77-829A-477C-9C0C-151A5096E0BA}"/>
              </a:ext>
            </a:extLst>
          </p:cNvPr>
          <p:cNvSpPr>
            <a:spLocks noGrp="1"/>
          </p:cNvSpPr>
          <p:nvPr>
            <p:ph type="ftr" sz="quarter" idx="11"/>
          </p:nvPr>
        </p:nvSpPr>
        <p:spPr/>
        <p:txBody>
          <a:bodyPr/>
          <a:lstStyle>
            <a:lvl1pPr>
              <a:defRPr/>
            </a:lvl1pPr>
          </a:lstStyle>
          <a:p>
            <a:pPr>
              <a:defRPr/>
            </a:pPr>
            <a:r>
              <a:rPr lang="en-US" dirty="0"/>
              <a:t>DEPARTMENT OF CSD MINI PROJECT REVIEW-1</a:t>
            </a:r>
          </a:p>
        </p:txBody>
      </p:sp>
      <p:sp>
        <p:nvSpPr>
          <p:cNvPr id="6" name="Slide Number Placeholder 5">
            <a:extLst>
              <a:ext uri="{FF2B5EF4-FFF2-40B4-BE49-F238E27FC236}">
                <a16:creationId xmlns:a16="http://schemas.microsoft.com/office/drawing/2014/main" id="{5539F79D-D26C-4B9A-9720-48C3725EFBFE}"/>
              </a:ext>
            </a:extLst>
          </p:cNvPr>
          <p:cNvSpPr>
            <a:spLocks noGrp="1"/>
          </p:cNvSpPr>
          <p:nvPr>
            <p:ph type="sldNum" sz="quarter" idx="12"/>
          </p:nvPr>
        </p:nvSpPr>
        <p:spPr/>
        <p:txBody>
          <a:bodyPr/>
          <a:lstStyle>
            <a:lvl1pPr>
              <a:defRPr/>
            </a:lvl1pPr>
          </a:lstStyle>
          <a:p>
            <a:fld id="{381673AE-CDED-468E-9E60-13F9774D8EF6}" type="slidenum">
              <a:rPr lang="en-US" altLang="en-US"/>
              <a:pPr/>
              <a:t>‹#›</a:t>
            </a:fld>
            <a:endParaRPr lang="en-US" altLang="en-US"/>
          </a:p>
        </p:txBody>
      </p:sp>
    </p:spTree>
    <p:extLst>
      <p:ext uri="{BB962C8B-B14F-4D97-AF65-F5344CB8AC3E}">
        <p14:creationId xmlns:p14="http://schemas.microsoft.com/office/powerpoint/2010/main" val="1212531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9E68E3-5E88-4FA2-8C26-450DBAD826DA}"/>
              </a:ext>
            </a:extLst>
          </p:cNvPr>
          <p:cNvSpPr>
            <a:spLocks noGrp="1"/>
          </p:cNvSpPr>
          <p:nvPr>
            <p:ph type="dt" sz="half" idx="10"/>
          </p:nvPr>
        </p:nvSpPr>
        <p:spPr/>
        <p:txBody>
          <a:bodyPr/>
          <a:lstStyle>
            <a:lvl1pPr>
              <a:defRPr/>
            </a:lvl1pPr>
          </a:lstStyle>
          <a:p>
            <a:pPr>
              <a:defRPr/>
            </a:pPr>
            <a:fld id="{BDE8CA06-C0FA-4A35-B9BF-5CBFE5CB9336}" type="datetime1">
              <a:rPr lang="en-US"/>
              <a:pPr>
                <a:defRPr/>
              </a:pPr>
              <a:t>4/1/2026</a:t>
            </a:fld>
            <a:endParaRPr lang="en-US"/>
          </a:p>
        </p:txBody>
      </p:sp>
      <p:sp>
        <p:nvSpPr>
          <p:cNvPr id="5" name="Footer Placeholder 4">
            <a:extLst>
              <a:ext uri="{FF2B5EF4-FFF2-40B4-BE49-F238E27FC236}">
                <a16:creationId xmlns:a16="http://schemas.microsoft.com/office/drawing/2014/main" id="{B6E4CD55-6E4A-4A63-98EF-FA743743FE70}"/>
              </a:ext>
            </a:extLst>
          </p:cNvPr>
          <p:cNvSpPr>
            <a:spLocks noGrp="1"/>
          </p:cNvSpPr>
          <p:nvPr>
            <p:ph type="ftr" sz="quarter" idx="11"/>
          </p:nvPr>
        </p:nvSpPr>
        <p:spPr/>
        <p:txBody>
          <a:bodyPr/>
          <a:lstStyle>
            <a:lvl1pPr>
              <a:defRPr/>
            </a:lvl1pPr>
          </a:lstStyle>
          <a:p>
            <a:pPr>
              <a:defRPr/>
            </a:pPr>
            <a:r>
              <a:rPr lang="en-US" dirty="0"/>
              <a:t>DEPARTMENT OF CSD MINI PROJECT REVIEW-1</a:t>
            </a:r>
          </a:p>
        </p:txBody>
      </p:sp>
      <p:sp>
        <p:nvSpPr>
          <p:cNvPr id="6" name="Slide Number Placeholder 5">
            <a:extLst>
              <a:ext uri="{FF2B5EF4-FFF2-40B4-BE49-F238E27FC236}">
                <a16:creationId xmlns:a16="http://schemas.microsoft.com/office/drawing/2014/main" id="{B50F5683-DEE8-45FB-8DAD-B25D6E885B1A}"/>
              </a:ext>
            </a:extLst>
          </p:cNvPr>
          <p:cNvSpPr>
            <a:spLocks noGrp="1"/>
          </p:cNvSpPr>
          <p:nvPr>
            <p:ph type="sldNum" sz="quarter" idx="12"/>
          </p:nvPr>
        </p:nvSpPr>
        <p:spPr/>
        <p:txBody>
          <a:bodyPr/>
          <a:lstStyle>
            <a:lvl1pPr>
              <a:defRPr/>
            </a:lvl1pPr>
          </a:lstStyle>
          <a:p>
            <a:fld id="{E021BEF2-95F5-417E-9097-980329164CCD}" type="slidenum">
              <a:rPr lang="en-US" altLang="en-US"/>
              <a:pPr/>
              <a:t>‹#›</a:t>
            </a:fld>
            <a:endParaRPr lang="en-US" altLang="en-US"/>
          </a:p>
        </p:txBody>
      </p:sp>
    </p:spTree>
    <p:extLst>
      <p:ext uri="{BB962C8B-B14F-4D97-AF65-F5344CB8AC3E}">
        <p14:creationId xmlns:p14="http://schemas.microsoft.com/office/powerpoint/2010/main" val="3173740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40D9E7-0515-400A-86E2-F96F6242C88C}"/>
              </a:ext>
            </a:extLst>
          </p:cNvPr>
          <p:cNvSpPr>
            <a:spLocks noGrp="1"/>
          </p:cNvSpPr>
          <p:nvPr>
            <p:ph type="dt" sz="half" idx="10"/>
          </p:nvPr>
        </p:nvSpPr>
        <p:spPr/>
        <p:txBody>
          <a:bodyPr/>
          <a:lstStyle>
            <a:lvl1pPr>
              <a:defRPr/>
            </a:lvl1pPr>
          </a:lstStyle>
          <a:p>
            <a:pPr>
              <a:defRPr/>
            </a:pPr>
            <a:fld id="{EDBE9779-8E71-4A34-ACDD-8BB13DEE2332}" type="datetime1">
              <a:rPr lang="en-US"/>
              <a:pPr>
                <a:defRPr/>
              </a:pPr>
              <a:t>4/1/2026</a:t>
            </a:fld>
            <a:endParaRPr lang="en-US"/>
          </a:p>
        </p:txBody>
      </p:sp>
      <p:sp>
        <p:nvSpPr>
          <p:cNvPr id="5" name="Footer Placeholder 4">
            <a:extLst>
              <a:ext uri="{FF2B5EF4-FFF2-40B4-BE49-F238E27FC236}">
                <a16:creationId xmlns:a16="http://schemas.microsoft.com/office/drawing/2014/main" id="{1ECE256D-C27A-4160-9DB1-FF5E7864C41E}"/>
              </a:ext>
            </a:extLst>
          </p:cNvPr>
          <p:cNvSpPr>
            <a:spLocks noGrp="1"/>
          </p:cNvSpPr>
          <p:nvPr>
            <p:ph type="ftr" sz="quarter" idx="11"/>
          </p:nvPr>
        </p:nvSpPr>
        <p:spPr/>
        <p:txBody>
          <a:bodyPr/>
          <a:lstStyle>
            <a:lvl1pPr>
              <a:defRPr/>
            </a:lvl1pPr>
          </a:lstStyle>
          <a:p>
            <a:pPr>
              <a:defRPr/>
            </a:pPr>
            <a:r>
              <a:rPr lang="en-US" dirty="0"/>
              <a:t>DEPARTMENT OF CSD MINI PROJECT REVIEW-1</a:t>
            </a:r>
          </a:p>
        </p:txBody>
      </p:sp>
      <p:sp>
        <p:nvSpPr>
          <p:cNvPr id="6" name="Slide Number Placeholder 5">
            <a:extLst>
              <a:ext uri="{FF2B5EF4-FFF2-40B4-BE49-F238E27FC236}">
                <a16:creationId xmlns:a16="http://schemas.microsoft.com/office/drawing/2014/main" id="{176E034D-8222-48D3-89D9-7CEBFB7D4DA3}"/>
              </a:ext>
            </a:extLst>
          </p:cNvPr>
          <p:cNvSpPr>
            <a:spLocks noGrp="1"/>
          </p:cNvSpPr>
          <p:nvPr>
            <p:ph type="sldNum" sz="quarter" idx="12"/>
          </p:nvPr>
        </p:nvSpPr>
        <p:spPr/>
        <p:txBody>
          <a:bodyPr/>
          <a:lstStyle>
            <a:lvl1pPr>
              <a:defRPr/>
            </a:lvl1pPr>
          </a:lstStyle>
          <a:p>
            <a:fld id="{B887B5C6-F485-457A-88E2-FF928EC41EA4}" type="slidenum">
              <a:rPr lang="en-US" altLang="en-US"/>
              <a:pPr/>
              <a:t>‹#›</a:t>
            </a:fld>
            <a:endParaRPr lang="en-US" altLang="en-US"/>
          </a:p>
        </p:txBody>
      </p:sp>
    </p:spTree>
    <p:extLst>
      <p:ext uri="{BB962C8B-B14F-4D97-AF65-F5344CB8AC3E}">
        <p14:creationId xmlns:p14="http://schemas.microsoft.com/office/powerpoint/2010/main" val="1145745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F62788E1-6A09-47B5-BC67-57CE1B8E32B4}"/>
              </a:ext>
            </a:extLst>
          </p:cNvPr>
          <p:cNvSpPr>
            <a:spLocks noGrp="1"/>
          </p:cNvSpPr>
          <p:nvPr>
            <p:ph type="dt" sz="half" idx="10"/>
          </p:nvPr>
        </p:nvSpPr>
        <p:spPr/>
        <p:txBody>
          <a:bodyPr/>
          <a:lstStyle>
            <a:lvl1pPr>
              <a:defRPr/>
            </a:lvl1pPr>
          </a:lstStyle>
          <a:p>
            <a:pPr>
              <a:defRPr/>
            </a:pPr>
            <a:fld id="{0C4B0931-B853-4338-857D-EC51455FBAEA}" type="datetime1">
              <a:rPr lang="en-US"/>
              <a:pPr>
                <a:defRPr/>
              </a:pPr>
              <a:t>4/1/2026</a:t>
            </a:fld>
            <a:endParaRPr lang="en-US"/>
          </a:p>
        </p:txBody>
      </p:sp>
      <p:sp>
        <p:nvSpPr>
          <p:cNvPr id="6" name="Footer Placeholder 4">
            <a:extLst>
              <a:ext uri="{FF2B5EF4-FFF2-40B4-BE49-F238E27FC236}">
                <a16:creationId xmlns:a16="http://schemas.microsoft.com/office/drawing/2014/main" id="{56718E1B-2187-4A00-8130-FF0CCF1858D1}"/>
              </a:ext>
            </a:extLst>
          </p:cNvPr>
          <p:cNvSpPr>
            <a:spLocks noGrp="1"/>
          </p:cNvSpPr>
          <p:nvPr>
            <p:ph type="ftr" sz="quarter" idx="11"/>
          </p:nvPr>
        </p:nvSpPr>
        <p:spPr/>
        <p:txBody>
          <a:bodyPr/>
          <a:lstStyle>
            <a:lvl1pPr>
              <a:defRPr/>
            </a:lvl1pPr>
          </a:lstStyle>
          <a:p>
            <a:pPr>
              <a:defRPr/>
            </a:pPr>
            <a:r>
              <a:rPr lang="en-US" dirty="0"/>
              <a:t>DEPARTMENT OF CSD MINI PROJECT REVIEW-1</a:t>
            </a:r>
          </a:p>
        </p:txBody>
      </p:sp>
      <p:sp>
        <p:nvSpPr>
          <p:cNvPr id="7" name="Slide Number Placeholder 5">
            <a:extLst>
              <a:ext uri="{FF2B5EF4-FFF2-40B4-BE49-F238E27FC236}">
                <a16:creationId xmlns:a16="http://schemas.microsoft.com/office/drawing/2014/main" id="{EB829CFF-BC30-4A03-9C08-2E85922F62BF}"/>
              </a:ext>
            </a:extLst>
          </p:cNvPr>
          <p:cNvSpPr>
            <a:spLocks noGrp="1"/>
          </p:cNvSpPr>
          <p:nvPr>
            <p:ph type="sldNum" sz="quarter" idx="12"/>
          </p:nvPr>
        </p:nvSpPr>
        <p:spPr/>
        <p:txBody>
          <a:bodyPr/>
          <a:lstStyle>
            <a:lvl1pPr>
              <a:defRPr/>
            </a:lvl1pPr>
          </a:lstStyle>
          <a:p>
            <a:fld id="{6430785C-3C3F-4D72-B6E5-E6D38F555861}" type="slidenum">
              <a:rPr lang="en-US" altLang="en-US"/>
              <a:pPr/>
              <a:t>‹#›</a:t>
            </a:fld>
            <a:endParaRPr lang="en-US" altLang="en-US"/>
          </a:p>
        </p:txBody>
      </p:sp>
    </p:spTree>
    <p:extLst>
      <p:ext uri="{BB962C8B-B14F-4D97-AF65-F5344CB8AC3E}">
        <p14:creationId xmlns:p14="http://schemas.microsoft.com/office/powerpoint/2010/main" val="2903186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CA1461F9-281D-4D2B-9EF4-0961D9F5ACAD}"/>
              </a:ext>
            </a:extLst>
          </p:cNvPr>
          <p:cNvSpPr>
            <a:spLocks noGrp="1"/>
          </p:cNvSpPr>
          <p:nvPr>
            <p:ph type="dt" sz="half" idx="10"/>
          </p:nvPr>
        </p:nvSpPr>
        <p:spPr/>
        <p:txBody>
          <a:bodyPr/>
          <a:lstStyle>
            <a:lvl1pPr>
              <a:defRPr/>
            </a:lvl1pPr>
          </a:lstStyle>
          <a:p>
            <a:pPr>
              <a:defRPr/>
            </a:pPr>
            <a:fld id="{D9F35988-ABC1-47B4-8337-180F809C6E04}" type="datetime1">
              <a:rPr lang="en-US"/>
              <a:pPr>
                <a:defRPr/>
              </a:pPr>
              <a:t>4/1/2026</a:t>
            </a:fld>
            <a:endParaRPr lang="en-US"/>
          </a:p>
        </p:txBody>
      </p:sp>
      <p:sp>
        <p:nvSpPr>
          <p:cNvPr id="8" name="Footer Placeholder 4">
            <a:extLst>
              <a:ext uri="{FF2B5EF4-FFF2-40B4-BE49-F238E27FC236}">
                <a16:creationId xmlns:a16="http://schemas.microsoft.com/office/drawing/2014/main" id="{32E3E607-E774-4F71-ACBB-FE851B9432E0}"/>
              </a:ext>
            </a:extLst>
          </p:cNvPr>
          <p:cNvSpPr>
            <a:spLocks noGrp="1"/>
          </p:cNvSpPr>
          <p:nvPr>
            <p:ph type="ftr" sz="quarter" idx="11"/>
          </p:nvPr>
        </p:nvSpPr>
        <p:spPr/>
        <p:txBody>
          <a:bodyPr/>
          <a:lstStyle>
            <a:lvl1pPr>
              <a:defRPr/>
            </a:lvl1pPr>
          </a:lstStyle>
          <a:p>
            <a:pPr>
              <a:defRPr/>
            </a:pPr>
            <a:r>
              <a:rPr lang="en-US" dirty="0"/>
              <a:t>DEPARTMENT OF CSD MINI PROJECT REVIEW-1</a:t>
            </a:r>
          </a:p>
        </p:txBody>
      </p:sp>
      <p:sp>
        <p:nvSpPr>
          <p:cNvPr id="9" name="Slide Number Placeholder 5">
            <a:extLst>
              <a:ext uri="{FF2B5EF4-FFF2-40B4-BE49-F238E27FC236}">
                <a16:creationId xmlns:a16="http://schemas.microsoft.com/office/drawing/2014/main" id="{E4CFFD8A-7C08-446F-B45D-132D79B6B82E}"/>
              </a:ext>
            </a:extLst>
          </p:cNvPr>
          <p:cNvSpPr>
            <a:spLocks noGrp="1"/>
          </p:cNvSpPr>
          <p:nvPr>
            <p:ph type="sldNum" sz="quarter" idx="12"/>
          </p:nvPr>
        </p:nvSpPr>
        <p:spPr/>
        <p:txBody>
          <a:bodyPr/>
          <a:lstStyle>
            <a:lvl1pPr>
              <a:defRPr/>
            </a:lvl1pPr>
          </a:lstStyle>
          <a:p>
            <a:fld id="{B998D808-031B-4F6F-A439-4ABFE2BF389D}" type="slidenum">
              <a:rPr lang="en-US" altLang="en-US"/>
              <a:pPr/>
              <a:t>‹#›</a:t>
            </a:fld>
            <a:endParaRPr lang="en-US" altLang="en-US"/>
          </a:p>
        </p:txBody>
      </p:sp>
    </p:spTree>
    <p:extLst>
      <p:ext uri="{BB962C8B-B14F-4D97-AF65-F5344CB8AC3E}">
        <p14:creationId xmlns:p14="http://schemas.microsoft.com/office/powerpoint/2010/main" val="2188178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AFECACAB-8F93-4899-AD13-62CA490A57C8}"/>
              </a:ext>
            </a:extLst>
          </p:cNvPr>
          <p:cNvSpPr>
            <a:spLocks noGrp="1"/>
          </p:cNvSpPr>
          <p:nvPr>
            <p:ph type="dt" sz="half" idx="10"/>
          </p:nvPr>
        </p:nvSpPr>
        <p:spPr/>
        <p:txBody>
          <a:bodyPr/>
          <a:lstStyle>
            <a:lvl1pPr>
              <a:defRPr/>
            </a:lvl1pPr>
          </a:lstStyle>
          <a:p>
            <a:pPr>
              <a:defRPr/>
            </a:pPr>
            <a:fld id="{7DDF58F0-0B71-4C0D-BBA6-85074C846FE6}" type="datetime1">
              <a:rPr lang="en-US"/>
              <a:pPr>
                <a:defRPr/>
              </a:pPr>
              <a:t>4/1/2026</a:t>
            </a:fld>
            <a:endParaRPr lang="en-US"/>
          </a:p>
        </p:txBody>
      </p:sp>
      <p:sp>
        <p:nvSpPr>
          <p:cNvPr id="4" name="Footer Placeholder 4">
            <a:extLst>
              <a:ext uri="{FF2B5EF4-FFF2-40B4-BE49-F238E27FC236}">
                <a16:creationId xmlns:a16="http://schemas.microsoft.com/office/drawing/2014/main" id="{446160C0-EE48-4D0E-A5AB-28501651FCE3}"/>
              </a:ext>
            </a:extLst>
          </p:cNvPr>
          <p:cNvSpPr>
            <a:spLocks noGrp="1"/>
          </p:cNvSpPr>
          <p:nvPr>
            <p:ph type="ftr" sz="quarter" idx="11"/>
          </p:nvPr>
        </p:nvSpPr>
        <p:spPr/>
        <p:txBody>
          <a:bodyPr/>
          <a:lstStyle>
            <a:lvl1pPr>
              <a:defRPr/>
            </a:lvl1pPr>
          </a:lstStyle>
          <a:p>
            <a:pPr>
              <a:defRPr/>
            </a:pPr>
            <a:r>
              <a:rPr lang="en-US" dirty="0"/>
              <a:t>DEPARTMENT OF CSD MINI PROJECT REVIEW-1</a:t>
            </a:r>
          </a:p>
        </p:txBody>
      </p:sp>
      <p:sp>
        <p:nvSpPr>
          <p:cNvPr id="5" name="Slide Number Placeholder 5">
            <a:extLst>
              <a:ext uri="{FF2B5EF4-FFF2-40B4-BE49-F238E27FC236}">
                <a16:creationId xmlns:a16="http://schemas.microsoft.com/office/drawing/2014/main" id="{DAD730CE-7954-4549-BAAE-6B545D3EC856}"/>
              </a:ext>
            </a:extLst>
          </p:cNvPr>
          <p:cNvSpPr>
            <a:spLocks noGrp="1"/>
          </p:cNvSpPr>
          <p:nvPr>
            <p:ph type="sldNum" sz="quarter" idx="12"/>
          </p:nvPr>
        </p:nvSpPr>
        <p:spPr/>
        <p:txBody>
          <a:bodyPr/>
          <a:lstStyle>
            <a:lvl1pPr>
              <a:defRPr/>
            </a:lvl1pPr>
          </a:lstStyle>
          <a:p>
            <a:fld id="{81B35500-9D2C-47A3-BF87-3935A794A65A}" type="slidenum">
              <a:rPr lang="en-US" altLang="en-US"/>
              <a:pPr/>
              <a:t>‹#›</a:t>
            </a:fld>
            <a:endParaRPr lang="en-US" altLang="en-US"/>
          </a:p>
        </p:txBody>
      </p:sp>
    </p:spTree>
    <p:extLst>
      <p:ext uri="{BB962C8B-B14F-4D97-AF65-F5344CB8AC3E}">
        <p14:creationId xmlns:p14="http://schemas.microsoft.com/office/powerpoint/2010/main" val="2060302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17E62CF2-CD3F-46A2-8A14-8052FB3F979E}"/>
              </a:ext>
            </a:extLst>
          </p:cNvPr>
          <p:cNvSpPr>
            <a:spLocks noGrp="1"/>
          </p:cNvSpPr>
          <p:nvPr>
            <p:ph type="dt" sz="half" idx="10"/>
          </p:nvPr>
        </p:nvSpPr>
        <p:spPr/>
        <p:txBody>
          <a:bodyPr/>
          <a:lstStyle>
            <a:lvl1pPr>
              <a:defRPr/>
            </a:lvl1pPr>
          </a:lstStyle>
          <a:p>
            <a:pPr>
              <a:defRPr/>
            </a:pPr>
            <a:fld id="{3433D11A-F1DE-4A50-95C9-D10180535CA0}" type="datetime1">
              <a:rPr lang="en-US"/>
              <a:pPr>
                <a:defRPr/>
              </a:pPr>
              <a:t>4/1/2026</a:t>
            </a:fld>
            <a:endParaRPr lang="en-US"/>
          </a:p>
        </p:txBody>
      </p:sp>
      <p:sp>
        <p:nvSpPr>
          <p:cNvPr id="3" name="Footer Placeholder 4">
            <a:extLst>
              <a:ext uri="{FF2B5EF4-FFF2-40B4-BE49-F238E27FC236}">
                <a16:creationId xmlns:a16="http://schemas.microsoft.com/office/drawing/2014/main" id="{641D14B1-D7C1-4357-B6C5-D6BDF3D8AE8E}"/>
              </a:ext>
            </a:extLst>
          </p:cNvPr>
          <p:cNvSpPr>
            <a:spLocks noGrp="1"/>
          </p:cNvSpPr>
          <p:nvPr>
            <p:ph type="ftr" sz="quarter" idx="11"/>
          </p:nvPr>
        </p:nvSpPr>
        <p:spPr/>
        <p:txBody>
          <a:bodyPr/>
          <a:lstStyle>
            <a:lvl1pPr>
              <a:defRPr/>
            </a:lvl1pPr>
          </a:lstStyle>
          <a:p>
            <a:pPr>
              <a:defRPr/>
            </a:pPr>
            <a:r>
              <a:rPr lang="en-US" dirty="0"/>
              <a:t>DEPARTMENT OF CSD MINI PROJECT REVIEW-1</a:t>
            </a:r>
          </a:p>
        </p:txBody>
      </p:sp>
      <p:sp>
        <p:nvSpPr>
          <p:cNvPr id="4" name="Slide Number Placeholder 5">
            <a:extLst>
              <a:ext uri="{FF2B5EF4-FFF2-40B4-BE49-F238E27FC236}">
                <a16:creationId xmlns:a16="http://schemas.microsoft.com/office/drawing/2014/main" id="{61A949BD-68C3-4EEF-B906-09FE3440E3FE}"/>
              </a:ext>
            </a:extLst>
          </p:cNvPr>
          <p:cNvSpPr>
            <a:spLocks noGrp="1"/>
          </p:cNvSpPr>
          <p:nvPr>
            <p:ph type="sldNum" sz="quarter" idx="12"/>
          </p:nvPr>
        </p:nvSpPr>
        <p:spPr/>
        <p:txBody>
          <a:bodyPr/>
          <a:lstStyle>
            <a:lvl1pPr>
              <a:defRPr/>
            </a:lvl1pPr>
          </a:lstStyle>
          <a:p>
            <a:fld id="{D1610838-7400-411B-B689-2F6C35481D0C}" type="slidenum">
              <a:rPr lang="en-US" altLang="en-US"/>
              <a:pPr/>
              <a:t>‹#›</a:t>
            </a:fld>
            <a:endParaRPr lang="en-US" altLang="en-US"/>
          </a:p>
        </p:txBody>
      </p:sp>
    </p:spTree>
    <p:extLst>
      <p:ext uri="{BB962C8B-B14F-4D97-AF65-F5344CB8AC3E}">
        <p14:creationId xmlns:p14="http://schemas.microsoft.com/office/powerpoint/2010/main" val="166312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05B26A4A-8706-4957-968A-429659FA63B9}"/>
              </a:ext>
            </a:extLst>
          </p:cNvPr>
          <p:cNvSpPr>
            <a:spLocks noGrp="1"/>
          </p:cNvSpPr>
          <p:nvPr>
            <p:ph type="dt" sz="half" idx="10"/>
          </p:nvPr>
        </p:nvSpPr>
        <p:spPr/>
        <p:txBody>
          <a:bodyPr/>
          <a:lstStyle>
            <a:lvl1pPr>
              <a:defRPr/>
            </a:lvl1pPr>
          </a:lstStyle>
          <a:p>
            <a:pPr>
              <a:defRPr/>
            </a:pPr>
            <a:fld id="{76D890D1-ADAD-4367-ADA2-AFAFF9F81D11}" type="datetime1">
              <a:rPr lang="en-US"/>
              <a:pPr>
                <a:defRPr/>
              </a:pPr>
              <a:t>4/1/2026</a:t>
            </a:fld>
            <a:endParaRPr lang="en-US"/>
          </a:p>
        </p:txBody>
      </p:sp>
      <p:sp>
        <p:nvSpPr>
          <p:cNvPr id="6" name="Footer Placeholder 4">
            <a:extLst>
              <a:ext uri="{FF2B5EF4-FFF2-40B4-BE49-F238E27FC236}">
                <a16:creationId xmlns:a16="http://schemas.microsoft.com/office/drawing/2014/main" id="{10A2F1D4-1189-48DE-BA98-325CD9C257C4}"/>
              </a:ext>
            </a:extLst>
          </p:cNvPr>
          <p:cNvSpPr>
            <a:spLocks noGrp="1"/>
          </p:cNvSpPr>
          <p:nvPr>
            <p:ph type="ftr" sz="quarter" idx="11"/>
          </p:nvPr>
        </p:nvSpPr>
        <p:spPr/>
        <p:txBody>
          <a:bodyPr/>
          <a:lstStyle>
            <a:lvl1pPr>
              <a:defRPr/>
            </a:lvl1pPr>
          </a:lstStyle>
          <a:p>
            <a:pPr>
              <a:defRPr/>
            </a:pPr>
            <a:r>
              <a:rPr lang="en-US" dirty="0"/>
              <a:t>DEPARTMENT OF CSD MINI PROJECT REVIEW-1</a:t>
            </a:r>
          </a:p>
        </p:txBody>
      </p:sp>
      <p:sp>
        <p:nvSpPr>
          <p:cNvPr id="7" name="Slide Number Placeholder 5">
            <a:extLst>
              <a:ext uri="{FF2B5EF4-FFF2-40B4-BE49-F238E27FC236}">
                <a16:creationId xmlns:a16="http://schemas.microsoft.com/office/drawing/2014/main" id="{C7986B66-2394-42B1-9BDE-35C177A62693}"/>
              </a:ext>
            </a:extLst>
          </p:cNvPr>
          <p:cNvSpPr>
            <a:spLocks noGrp="1"/>
          </p:cNvSpPr>
          <p:nvPr>
            <p:ph type="sldNum" sz="quarter" idx="12"/>
          </p:nvPr>
        </p:nvSpPr>
        <p:spPr/>
        <p:txBody>
          <a:bodyPr/>
          <a:lstStyle>
            <a:lvl1pPr>
              <a:defRPr/>
            </a:lvl1pPr>
          </a:lstStyle>
          <a:p>
            <a:fld id="{5FEEDBB8-2F2A-4E69-B4E6-C45A1A219323}" type="slidenum">
              <a:rPr lang="en-US" altLang="en-US"/>
              <a:pPr/>
              <a:t>‹#›</a:t>
            </a:fld>
            <a:endParaRPr lang="en-US" altLang="en-US"/>
          </a:p>
        </p:txBody>
      </p:sp>
    </p:spTree>
    <p:extLst>
      <p:ext uri="{BB962C8B-B14F-4D97-AF65-F5344CB8AC3E}">
        <p14:creationId xmlns:p14="http://schemas.microsoft.com/office/powerpoint/2010/main" val="3952277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03A3A19-677F-46D0-8327-737A4396EFCE}"/>
              </a:ext>
            </a:extLst>
          </p:cNvPr>
          <p:cNvSpPr>
            <a:spLocks noGrp="1"/>
          </p:cNvSpPr>
          <p:nvPr>
            <p:ph type="dt" sz="half" idx="10"/>
          </p:nvPr>
        </p:nvSpPr>
        <p:spPr/>
        <p:txBody>
          <a:bodyPr/>
          <a:lstStyle>
            <a:lvl1pPr>
              <a:defRPr/>
            </a:lvl1pPr>
          </a:lstStyle>
          <a:p>
            <a:pPr>
              <a:defRPr/>
            </a:pPr>
            <a:fld id="{393651B4-9843-45AB-8E22-71543FB46DA2}" type="datetime1">
              <a:rPr lang="en-US"/>
              <a:pPr>
                <a:defRPr/>
              </a:pPr>
              <a:t>4/1/2026</a:t>
            </a:fld>
            <a:endParaRPr lang="en-US"/>
          </a:p>
        </p:txBody>
      </p:sp>
      <p:sp>
        <p:nvSpPr>
          <p:cNvPr id="6" name="Footer Placeholder 4">
            <a:extLst>
              <a:ext uri="{FF2B5EF4-FFF2-40B4-BE49-F238E27FC236}">
                <a16:creationId xmlns:a16="http://schemas.microsoft.com/office/drawing/2014/main" id="{EEC761C7-6D46-45C5-A06E-1C9467DF57EB}"/>
              </a:ext>
            </a:extLst>
          </p:cNvPr>
          <p:cNvSpPr>
            <a:spLocks noGrp="1"/>
          </p:cNvSpPr>
          <p:nvPr>
            <p:ph type="ftr" sz="quarter" idx="11"/>
          </p:nvPr>
        </p:nvSpPr>
        <p:spPr/>
        <p:txBody>
          <a:bodyPr/>
          <a:lstStyle>
            <a:lvl1pPr>
              <a:defRPr/>
            </a:lvl1pPr>
          </a:lstStyle>
          <a:p>
            <a:pPr>
              <a:defRPr/>
            </a:pPr>
            <a:r>
              <a:rPr lang="en-US" dirty="0"/>
              <a:t>DEPARTMENT OF CSD MINI PROJECT REVIEW-1</a:t>
            </a:r>
          </a:p>
        </p:txBody>
      </p:sp>
      <p:sp>
        <p:nvSpPr>
          <p:cNvPr id="7" name="Slide Number Placeholder 5">
            <a:extLst>
              <a:ext uri="{FF2B5EF4-FFF2-40B4-BE49-F238E27FC236}">
                <a16:creationId xmlns:a16="http://schemas.microsoft.com/office/drawing/2014/main" id="{E25F70F5-D8D2-4E99-B0E5-DC927F25456F}"/>
              </a:ext>
            </a:extLst>
          </p:cNvPr>
          <p:cNvSpPr>
            <a:spLocks noGrp="1"/>
          </p:cNvSpPr>
          <p:nvPr>
            <p:ph type="sldNum" sz="quarter" idx="12"/>
          </p:nvPr>
        </p:nvSpPr>
        <p:spPr/>
        <p:txBody>
          <a:bodyPr/>
          <a:lstStyle>
            <a:lvl1pPr>
              <a:defRPr/>
            </a:lvl1pPr>
          </a:lstStyle>
          <a:p>
            <a:fld id="{46600780-8261-4F2C-8AB1-4FC7C46475CB}" type="slidenum">
              <a:rPr lang="en-US" altLang="en-US"/>
              <a:pPr/>
              <a:t>‹#›</a:t>
            </a:fld>
            <a:endParaRPr lang="en-US" altLang="en-US"/>
          </a:p>
        </p:txBody>
      </p:sp>
    </p:spTree>
    <p:extLst>
      <p:ext uri="{BB962C8B-B14F-4D97-AF65-F5344CB8AC3E}">
        <p14:creationId xmlns:p14="http://schemas.microsoft.com/office/powerpoint/2010/main" val="1084317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78DC88-AE01-4CAA-9020-B90D8607B756}"/>
              </a:ext>
            </a:extLst>
          </p:cNvPr>
          <p:cNvSpPr>
            <a:spLocks noGrp="1"/>
          </p:cNvSpPr>
          <p:nvPr>
            <p:ph type="dt" sz="half" idx="10"/>
          </p:nvPr>
        </p:nvSpPr>
        <p:spPr/>
        <p:txBody>
          <a:bodyPr/>
          <a:lstStyle>
            <a:lvl1pPr>
              <a:defRPr/>
            </a:lvl1pPr>
          </a:lstStyle>
          <a:p>
            <a:pPr>
              <a:defRPr/>
            </a:pPr>
            <a:fld id="{4394FE15-DD9A-40C6-9AF8-2CF0E2DC9FED}" type="datetime1">
              <a:rPr lang="en-US"/>
              <a:pPr>
                <a:defRPr/>
              </a:pPr>
              <a:t>4/1/2026</a:t>
            </a:fld>
            <a:endParaRPr lang="en-US"/>
          </a:p>
        </p:txBody>
      </p:sp>
      <p:sp>
        <p:nvSpPr>
          <p:cNvPr id="5" name="Footer Placeholder 4">
            <a:extLst>
              <a:ext uri="{FF2B5EF4-FFF2-40B4-BE49-F238E27FC236}">
                <a16:creationId xmlns:a16="http://schemas.microsoft.com/office/drawing/2014/main" id="{25D2C5CF-6CAA-4307-B6A8-DF54D826BCCE}"/>
              </a:ext>
            </a:extLst>
          </p:cNvPr>
          <p:cNvSpPr>
            <a:spLocks noGrp="1"/>
          </p:cNvSpPr>
          <p:nvPr>
            <p:ph type="ftr" sz="quarter" idx="11"/>
          </p:nvPr>
        </p:nvSpPr>
        <p:spPr/>
        <p:txBody>
          <a:bodyPr/>
          <a:lstStyle>
            <a:lvl1pPr>
              <a:defRPr/>
            </a:lvl1pPr>
          </a:lstStyle>
          <a:p>
            <a:pPr>
              <a:defRPr/>
            </a:pPr>
            <a:r>
              <a:rPr lang="en-US" dirty="0"/>
              <a:t>DEPARTMENT OF CSD MINI PROJECT REVIEW-1</a:t>
            </a:r>
          </a:p>
        </p:txBody>
      </p:sp>
      <p:sp>
        <p:nvSpPr>
          <p:cNvPr id="6" name="Slide Number Placeholder 5">
            <a:extLst>
              <a:ext uri="{FF2B5EF4-FFF2-40B4-BE49-F238E27FC236}">
                <a16:creationId xmlns:a16="http://schemas.microsoft.com/office/drawing/2014/main" id="{724552A0-9D79-48E4-B25F-688BC1867D0D}"/>
              </a:ext>
            </a:extLst>
          </p:cNvPr>
          <p:cNvSpPr>
            <a:spLocks noGrp="1"/>
          </p:cNvSpPr>
          <p:nvPr>
            <p:ph type="sldNum" sz="quarter" idx="12"/>
          </p:nvPr>
        </p:nvSpPr>
        <p:spPr/>
        <p:txBody>
          <a:bodyPr/>
          <a:lstStyle>
            <a:lvl1pPr>
              <a:defRPr/>
            </a:lvl1pPr>
          </a:lstStyle>
          <a:p>
            <a:fld id="{2A26A04B-D0EF-4595-87CA-07FE647A1A75}" type="slidenum">
              <a:rPr lang="en-US" altLang="en-US"/>
              <a:pPr/>
              <a:t>‹#›</a:t>
            </a:fld>
            <a:endParaRPr lang="en-US" altLang="en-US"/>
          </a:p>
        </p:txBody>
      </p:sp>
    </p:spTree>
    <p:extLst>
      <p:ext uri="{BB962C8B-B14F-4D97-AF65-F5344CB8AC3E}">
        <p14:creationId xmlns:p14="http://schemas.microsoft.com/office/powerpoint/2010/main" val="97009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B76813-D725-49F2-945C-CCAB9D2A95D0}"/>
              </a:ext>
            </a:extLst>
          </p:cNvPr>
          <p:cNvSpPr>
            <a:spLocks noGrp="1"/>
          </p:cNvSpPr>
          <p:nvPr>
            <p:ph type="dt" sz="half" idx="10"/>
          </p:nvPr>
        </p:nvSpPr>
        <p:spPr/>
        <p:txBody>
          <a:bodyPr/>
          <a:lstStyle>
            <a:lvl1pPr>
              <a:defRPr/>
            </a:lvl1pPr>
          </a:lstStyle>
          <a:p>
            <a:pPr>
              <a:defRPr/>
            </a:pPr>
            <a:fld id="{370FD5AE-DF06-40E8-B10A-A7E8871D9706}" type="datetime1">
              <a:rPr lang="en-US"/>
              <a:pPr>
                <a:defRPr/>
              </a:pPr>
              <a:t>4/1/2026</a:t>
            </a:fld>
            <a:endParaRPr lang="en-US"/>
          </a:p>
        </p:txBody>
      </p:sp>
      <p:sp>
        <p:nvSpPr>
          <p:cNvPr id="5" name="Footer Placeholder 4">
            <a:extLst>
              <a:ext uri="{FF2B5EF4-FFF2-40B4-BE49-F238E27FC236}">
                <a16:creationId xmlns:a16="http://schemas.microsoft.com/office/drawing/2014/main" id="{041B94B4-C37D-4CF1-B803-70ECE9F98043}"/>
              </a:ext>
            </a:extLst>
          </p:cNvPr>
          <p:cNvSpPr>
            <a:spLocks noGrp="1"/>
          </p:cNvSpPr>
          <p:nvPr>
            <p:ph type="ftr" sz="quarter" idx="11"/>
          </p:nvPr>
        </p:nvSpPr>
        <p:spPr/>
        <p:txBody>
          <a:bodyPr/>
          <a:lstStyle>
            <a:lvl1pPr>
              <a:defRPr/>
            </a:lvl1pPr>
          </a:lstStyle>
          <a:p>
            <a:pPr>
              <a:defRPr/>
            </a:pPr>
            <a:r>
              <a:rPr lang="en-US" dirty="0"/>
              <a:t>DEPARTMENT OF CSD MINI PROJECT REVIEW-1</a:t>
            </a:r>
          </a:p>
        </p:txBody>
      </p:sp>
      <p:sp>
        <p:nvSpPr>
          <p:cNvPr id="6" name="Slide Number Placeholder 5">
            <a:extLst>
              <a:ext uri="{FF2B5EF4-FFF2-40B4-BE49-F238E27FC236}">
                <a16:creationId xmlns:a16="http://schemas.microsoft.com/office/drawing/2014/main" id="{84CB5775-0DF8-430A-981E-D9F890F1E727}"/>
              </a:ext>
            </a:extLst>
          </p:cNvPr>
          <p:cNvSpPr>
            <a:spLocks noGrp="1"/>
          </p:cNvSpPr>
          <p:nvPr>
            <p:ph type="sldNum" sz="quarter" idx="12"/>
          </p:nvPr>
        </p:nvSpPr>
        <p:spPr/>
        <p:txBody>
          <a:bodyPr/>
          <a:lstStyle>
            <a:lvl1pPr>
              <a:defRPr/>
            </a:lvl1pPr>
          </a:lstStyle>
          <a:p>
            <a:fld id="{79B4311E-D5F2-40A4-B2D6-DDC2AFD86103}" type="slidenum">
              <a:rPr lang="en-US" altLang="en-US"/>
              <a:pPr/>
              <a:t>‹#›</a:t>
            </a:fld>
            <a:endParaRPr lang="en-US" altLang="en-US"/>
          </a:p>
        </p:txBody>
      </p:sp>
    </p:spTree>
    <p:extLst>
      <p:ext uri="{BB962C8B-B14F-4D97-AF65-F5344CB8AC3E}">
        <p14:creationId xmlns:p14="http://schemas.microsoft.com/office/powerpoint/2010/main" val="1656422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BFDCBFCD-ADA5-49D9-8EC2-C25B2ED55BC0}"/>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C11E7B0C-3D44-4CB9-82E9-732D3B5E65E2}"/>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FB830E18-6B0F-4561-A8EC-664E8249DE82}"/>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cs typeface="+mn-cs"/>
              </a:defRPr>
            </a:lvl1pPr>
          </a:lstStyle>
          <a:p>
            <a:pPr>
              <a:defRPr/>
            </a:pPr>
            <a:fld id="{06A74232-FC8A-49F8-80E8-B50A0BA80DF4}" type="datetime1">
              <a:rPr lang="en-US"/>
              <a:pPr>
                <a:defRPr/>
              </a:pPr>
              <a:t>4/1/2026</a:t>
            </a:fld>
            <a:endParaRPr lang="en-US"/>
          </a:p>
        </p:txBody>
      </p:sp>
      <p:sp>
        <p:nvSpPr>
          <p:cNvPr id="5" name="Footer Placeholder 4">
            <a:extLst>
              <a:ext uri="{FF2B5EF4-FFF2-40B4-BE49-F238E27FC236}">
                <a16:creationId xmlns:a16="http://schemas.microsoft.com/office/drawing/2014/main" id="{2A8380AF-395F-446F-B527-ECA9916A9611}"/>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cs typeface="+mn-cs"/>
              </a:defRPr>
            </a:lvl1pPr>
          </a:lstStyle>
          <a:p>
            <a:pPr>
              <a:defRPr/>
            </a:pPr>
            <a:r>
              <a:rPr lang="en-US" dirty="0"/>
              <a:t>DEPARTMENT OF CSD MINI PROJECT REVIEW-1</a:t>
            </a:r>
          </a:p>
        </p:txBody>
      </p:sp>
      <p:sp>
        <p:nvSpPr>
          <p:cNvPr id="6" name="Slide Number Placeholder 5">
            <a:extLst>
              <a:ext uri="{FF2B5EF4-FFF2-40B4-BE49-F238E27FC236}">
                <a16:creationId xmlns:a16="http://schemas.microsoft.com/office/drawing/2014/main" id="{2E7C784E-7B42-4220-A301-963093C40A64}"/>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1E04AAF9-47BF-4F68-B79A-2D00C1CD1B67}"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defRPr>
      </a:lvl2pPr>
      <a:lvl3pPr algn="ctr" rtl="0" fontAlgn="base">
        <a:spcBef>
          <a:spcPct val="0"/>
        </a:spcBef>
        <a:spcAft>
          <a:spcPct val="0"/>
        </a:spcAft>
        <a:defRPr sz="4400">
          <a:solidFill>
            <a:schemeClr val="tx1"/>
          </a:solidFill>
          <a:latin typeface="Calibri" panose="020F0502020204030204" pitchFamily="34" charset="0"/>
        </a:defRPr>
      </a:lvl3pPr>
      <a:lvl4pPr algn="ctr" rtl="0" fontAlgn="base">
        <a:spcBef>
          <a:spcPct val="0"/>
        </a:spcBef>
        <a:spcAft>
          <a:spcPct val="0"/>
        </a:spcAft>
        <a:defRPr sz="4400">
          <a:solidFill>
            <a:schemeClr val="tx1"/>
          </a:solidFill>
          <a:latin typeface="Calibri" panose="020F0502020204030204" pitchFamily="34" charset="0"/>
        </a:defRPr>
      </a:lvl4pPr>
      <a:lvl5pPr algn="ctr" rtl="0" fontAlgn="base">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7133BE8-A87E-4DBC-98E8-2FD6622AA548}"/>
              </a:ext>
            </a:extLst>
          </p:cNvPr>
          <p:cNvSpPr txBox="1">
            <a:spLocks/>
          </p:cNvSpPr>
          <p:nvPr/>
        </p:nvSpPr>
        <p:spPr>
          <a:xfrm>
            <a:off x="228600" y="150492"/>
            <a:ext cx="8839200" cy="6477000"/>
          </a:xfrm>
          <a:prstGeom prst="rect">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chor="ctr">
            <a:normAutofit/>
          </a:bodyPr>
          <a:lstStyle/>
          <a:p>
            <a:pPr algn="ctr" fontAlgn="auto">
              <a:spcAft>
                <a:spcPts val="0"/>
              </a:spcAft>
              <a:defRPr/>
            </a:pPr>
            <a:endParaRPr lang="en-US" sz="4400" dirty="0">
              <a:solidFill>
                <a:schemeClr val="tx1"/>
              </a:solidFill>
              <a:latin typeface="+mj-lt"/>
              <a:ea typeface="+mj-ea"/>
              <a:cs typeface="+mj-cs"/>
            </a:endParaRPr>
          </a:p>
        </p:txBody>
      </p:sp>
      <p:sp>
        <p:nvSpPr>
          <p:cNvPr id="2" name="Title 1">
            <a:extLst>
              <a:ext uri="{FF2B5EF4-FFF2-40B4-BE49-F238E27FC236}">
                <a16:creationId xmlns:a16="http://schemas.microsoft.com/office/drawing/2014/main" id="{D9B2990C-D7A3-4312-BBC7-CC2452B79ECF}"/>
              </a:ext>
            </a:extLst>
          </p:cNvPr>
          <p:cNvSpPr>
            <a:spLocks noGrp="1"/>
          </p:cNvSpPr>
          <p:nvPr>
            <p:ph type="ctrTitle"/>
          </p:nvPr>
        </p:nvSpPr>
        <p:spPr>
          <a:xfrm>
            <a:off x="533400" y="913787"/>
            <a:ext cx="8381999" cy="838200"/>
          </a:xfrm>
        </p:spPr>
        <p:txBody>
          <a:bodyPr rtlCol="0">
            <a:normAutofit fontScale="90000"/>
          </a:bodyPr>
          <a:lstStyle/>
          <a:p>
            <a:pPr fontAlgn="auto">
              <a:spcAft>
                <a:spcPts val="0"/>
              </a:spcAft>
              <a:defRPr/>
            </a:pPr>
            <a:r>
              <a:rPr lang="en-US" sz="3600" b="1" dirty="0"/>
              <a:t>   </a:t>
            </a:r>
            <a:br>
              <a:rPr lang="en-US" sz="2400" dirty="0"/>
            </a:br>
            <a:r>
              <a:rPr lang="en-US" sz="2400" b="1" dirty="0">
                <a:solidFill>
                  <a:srgbClr val="FF0000"/>
                </a:solidFill>
              </a:rPr>
              <a:t>DEPARTMENT OF COMPUTER SCIENCE &amp; ENGINEERING</a:t>
            </a:r>
            <a:br>
              <a:rPr lang="en-US" sz="2400" b="1" dirty="0"/>
            </a:br>
            <a:endParaRPr lang="en-US" sz="3600" b="1" dirty="0"/>
          </a:p>
        </p:txBody>
      </p:sp>
      <p:sp>
        <p:nvSpPr>
          <p:cNvPr id="7" name="Subtitle 2">
            <a:extLst>
              <a:ext uri="{FF2B5EF4-FFF2-40B4-BE49-F238E27FC236}">
                <a16:creationId xmlns:a16="http://schemas.microsoft.com/office/drawing/2014/main" id="{81E9BB19-E97E-45D3-BB72-E34CC7BF07BD}"/>
              </a:ext>
            </a:extLst>
          </p:cNvPr>
          <p:cNvSpPr txBox="1">
            <a:spLocks/>
          </p:cNvSpPr>
          <p:nvPr/>
        </p:nvSpPr>
        <p:spPr>
          <a:xfrm>
            <a:off x="228600" y="5181600"/>
            <a:ext cx="8686800" cy="1371600"/>
          </a:xfrm>
          <a:prstGeom prst="rect">
            <a:avLst/>
          </a:prstGeom>
          <a:ln>
            <a:solidFill>
              <a:schemeClr val="accent1">
                <a:lumMod val="75000"/>
              </a:schemeClr>
            </a:solidFill>
          </a:ln>
        </p:spPr>
        <p:style>
          <a:lnRef idx="2">
            <a:schemeClr val="accent2"/>
          </a:lnRef>
          <a:fillRef idx="1">
            <a:schemeClr val="lt1"/>
          </a:fillRef>
          <a:effectRef idx="0">
            <a:schemeClr val="accent2"/>
          </a:effectRef>
          <a:fontRef idx="minor">
            <a:schemeClr val="dk1"/>
          </a:fontRef>
        </p:style>
        <p:txBody>
          <a:bodyPr lIns="91440" tIns="45720" rIns="91440" bIns="45720" anchor="t">
            <a:normAutofit fontScale="77500" lnSpcReduction="20000"/>
          </a:bodyPr>
          <a:lstStyle/>
          <a:p>
            <a:pPr algn="ctr" fontAlgn="auto">
              <a:spcBef>
                <a:spcPct val="20000"/>
              </a:spcBef>
              <a:spcAft>
                <a:spcPts val="0"/>
              </a:spcAft>
              <a:buFont typeface="Arial" pitchFamily="34" charset="0"/>
              <a:buNone/>
              <a:defRPr/>
            </a:pPr>
            <a:r>
              <a:rPr lang="en-US" sz="3300" b="1" u="sng" dirty="0">
                <a:solidFill>
                  <a:srgbClr val="FF0000"/>
                </a:solidFill>
              </a:rPr>
              <a:t>Guide Details</a:t>
            </a:r>
          </a:p>
          <a:p>
            <a:pPr algn="ctr" fontAlgn="auto">
              <a:spcBef>
                <a:spcPct val="20000"/>
              </a:spcBef>
              <a:spcAft>
                <a:spcPts val="0"/>
              </a:spcAft>
              <a:defRPr/>
            </a:pPr>
            <a:r>
              <a:rPr lang="en-US" sz="3000" b="1" dirty="0" err="1">
                <a:solidFill>
                  <a:srgbClr val="002060"/>
                </a:solidFill>
                <a:cs typeface="Calibri"/>
              </a:rPr>
              <a:t>K.Shalini</a:t>
            </a:r>
            <a:endParaRPr lang="en-US" sz="3000" b="1" dirty="0">
              <a:solidFill>
                <a:srgbClr val="002060"/>
              </a:solidFill>
              <a:cs typeface="Calibri"/>
            </a:endParaRPr>
          </a:p>
          <a:p>
            <a:pPr algn="ctr" fontAlgn="auto">
              <a:spcBef>
                <a:spcPct val="20000"/>
              </a:spcBef>
              <a:spcAft>
                <a:spcPts val="0"/>
              </a:spcAft>
              <a:defRPr/>
            </a:pPr>
            <a:r>
              <a:rPr lang="en-US" sz="2200" b="1" dirty="0">
                <a:solidFill>
                  <a:srgbClr val="002060"/>
                </a:solidFill>
              </a:rPr>
              <a:t>Assistant Professor </a:t>
            </a:r>
          </a:p>
          <a:p>
            <a:pPr algn="ctr" fontAlgn="auto">
              <a:spcBef>
                <a:spcPct val="20000"/>
              </a:spcBef>
              <a:spcAft>
                <a:spcPts val="0"/>
              </a:spcAft>
              <a:defRPr/>
            </a:pPr>
            <a:r>
              <a:rPr lang="en-US" sz="2200" b="1" dirty="0">
                <a:solidFill>
                  <a:srgbClr val="002060"/>
                </a:solidFill>
              </a:rPr>
              <a:t>Department of CSE</a:t>
            </a:r>
          </a:p>
          <a:p>
            <a:pPr algn="ctr" fontAlgn="auto">
              <a:spcBef>
                <a:spcPct val="20000"/>
              </a:spcBef>
              <a:spcAft>
                <a:spcPts val="0"/>
              </a:spcAft>
              <a:buFont typeface="Arial" pitchFamily="34" charset="0"/>
              <a:buNone/>
              <a:defRPr/>
            </a:pPr>
            <a:endParaRPr lang="en-US" sz="1600" b="1" dirty="0">
              <a:solidFill>
                <a:srgbClr val="002060"/>
              </a:solidFill>
            </a:endParaRPr>
          </a:p>
          <a:p>
            <a:pPr fontAlgn="auto">
              <a:spcBef>
                <a:spcPct val="20000"/>
              </a:spcBef>
              <a:spcAft>
                <a:spcPts val="0"/>
              </a:spcAft>
              <a:buFont typeface="Arial" pitchFamily="34" charset="0"/>
              <a:buNone/>
              <a:defRPr/>
            </a:pPr>
            <a:endParaRPr lang="en-US" sz="3200" dirty="0">
              <a:solidFill>
                <a:schemeClr val="tx1">
                  <a:tint val="75000"/>
                </a:schemeClr>
              </a:solidFill>
            </a:endParaRPr>
          </a:p>
        </p:txBody>
      </p:sp>
      <p:sp>
        <p:nvSpPr>
          <p:cNvPr id="9" name="Title 1">
            <a:extLst>
              <a:ext uri="{FF2B5EF4-FFF2-40B4-BE49-F238E27FC236}">
                <a16:creationId xmlns:a16="http://schemas.microsoft.com/office/drawing/2014/main" id="{C3034EB3-E5B7-485E-984F-A0E903E0E9A7}"/>
              </a:ext>
            </a:extLst>
          </p:cNvPr>
          <p:cNvSpPr txBox="1">
            <a:spLocks/>
          </p:cNvSpPr>
          <p:nvPr/>
        </p:nvSpPr>
        <p:spPr>
          <a:xfrm>
            <a:off x="2743200" y="2286000"/>
            <a:ext cx="3657600" cy="533400"/>
          </a:xfrm>
          <a:prstGeom prst="rect">
            <a:avLst/>
          </a:prstGeom>
        </p:spPr>
        <p:style>
          <a:lnRef idx="2">
            <a:schemeClr val="accent1"/>
          </a:lnRef>
          <a:fillRef idx="1">
            <a:schemeClr val="lt1"/>
          </a:fillRef>
          <a:effectRef idx="0">
            <a:schemeClr val="accent1"/>
          </a:effectRef>
          <a:fontRef idx="minor">
            <a:schemeClr val="dk1"/>
          </a:fontRef>
        </p:style>
        <p:txBody>
          <a:bodyPr lIns="91440" tIns="45720" rIns="91440" bIns="45720" anchor="ctr">
            <a:normAutofit/>
          </a:bodyPr>
          <a:lstStyle/>
          <a:p>
            <a:pPr algn="ctr" fontAlgn="auto">
              <a:spcAft>
                <a:spcPts val="0"/>
              </a:spcAft>
              <a:defRPr/>
            </a:pPr>
            <a:r>
              <a:rPr lang="en-US" sz="2400" b="1" dirty="0">
                <a:solidFill>
                  <a:schemeClr val="tx1"/>
                </a:solidFill>
                <a:latin typeface="+mj-lt"/>
                <a:ea typeface="+mj-ea"/>
                <a:cs typeface="+mj-cs"/>
              </a:rPr>
              <a:t>BATCH ID : </a:t>
            </a:r>
            <a:r>
              <a:rPr lang="en-IN" sz="2400" b="1" dirty="0"/>
              <a:t>23MPCS-B1</a:t>
            </a:r>
            <a:r>
              <a:rPr lang="en-IN" sz="2400" dirty="0"/>
              <a:t> </a:t>
            </a:r>
            <a:endParaRPr lang="en-US" sz="2400" b="1" dirty="0">
              <a:solidFill>
                <a:schemeClr val="tx1"/>
              </a:solidFill>
              <a:latin typeface="+mj-lt"/>
              <a:ea typeface="+mj-ea"/>
              <a:cs typeface="+mj-cs"/>
            </a:endParaRPr>
          </a:p>
        </p:txBody>
      </p:sp>
      <p:sp>
        <p:nvSpPr>
          <p:cNvPr id="10" name="Title 1">
            <a:extLst>
              <a:ext uri="{FF2B5EF4-FFF2-40B4-BE49-F238E27FC236}">
                <a16:creationId xmlns:a16="http://schemas.microsoft.com/office/drawing/2014/main" id="{EB366ABC-1782-4359-A4C5-6579CEFE1A4B}"/>
              </a:ext>
            </a:extLst>
          </p:cNvPr>
          <p:cNvSpPr txBox="1">
            <a:spLocks/>
          </p:cNvSpPr>
          <p:nvPr/>
        </p:nvSpPr>
        <p:spPr>
          <a:xfrm>
            <a:off x="266700" y="1562100"/>
            <a:ext cx="8610600" cy="609600"/>
          </a:xfrm>
          <a:prstGeom prst="rect">
            <a:avLst/>
          </a:prstGeom>
          <a:solidFill>
            <a:schemeClr val="accent1">
              <a:lumMod val="40000"/>
              <a:lumOff val="60000"/>
            </a:schemeClr>
          </a:solidFill>
          <a:ln>
            <a:solidFill>
              <a:schemeClr val="accent1">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lIns="91440" tIns="45720" rIns="91440" bIns="45720" anchor="ctr">
            <a:normAutofit fontScale="70000" lnSpcReduction="20000"/>
          </a:bodyPr>
          <a:lstStyle/>
          <a:p>
            <a:pPr algn="ctr" fontAlgn="auto">
              <a:spcAft>
                <a:spcPts val="0"/>
              </a:spcAft>
              <a:defRPr/>
            </a:pPr>
            <a:r>
              <a:rPr lang="en-US" sz="2800" dirty="0"/>
              <a:t> </a:t>
            </a:r>
            <a:r>
              <a:rPr lang="en-US" sz="2800" b="1" dirty="0" err="1"/>
              <a:t>Title</a:t>
            </a:r>
            <a:r>
              <a:rPr lang="en-US" sz="2800" dirty="0" err="1"/>
              <a:t>:</a:t>
            </a:r>
            <a:r>
              <a:rPr lang="en-US" sz="2800" b="1" dirty="0" err="1"/>
              <a:t>Vision-Driven</a:t>
            </a:r>
            <a:r>
              <a:rPr lang="en-US" sz="2800" b="1" dirty="0"/>
              <a:t> Intrusion &amp; Intent Detection for Restricted Zones via </a:t>
            </a:r>
            <a:r>
              <a:rPr lang="en-US" sz="2800" b="1" dirty="0" err="1"/>
              <a:t>Behavioural</a:t>
            </a:r>
            <a:r>
              <a:rPr lang="en-US" sz="2800" b="1" dirty="0"/>
              <a:t> and Emotional Analysis</a:t>
            </a:r>
            <a:endParaRPr lang="en-US" sz="2800" b="1" dirty="0">
              <a:solidFill>
                <a:schemeClr val="tx1"/>
              </a:solidFill>
              <a:latin typeface="+mj-lt"/>
              <a:ea typeface="+mj-ea"/>
              <a:cs typeface="+mj-cs"/>
            </a:endParaRPr>
          </a:p>
        </p:txBody>
      </p:sp>
      <p:graphicFrame>
        <p:nvGraphicFramePr>
          <p:cNvPr id="12" name="Table 11">
            <a:extLst>
              <a:ext uri="{FF2B5EF4-FFF2-40B4-BE49-F238E27FC236}">
                <a16:creationId xmlns:a16="http://schemas.microsoft.com/office/drawing/2014/main" id="{4B4BF96B-13BF-42E1-B330-96082705FEC5}"/>
              </a:ext>
            </a:extLst>
          </p:cNvPr>
          <p:cNvGraphicFramePr>
            <a:graphicFrameLocks noGrp="1"/>
          </p:cNvGraphicFramePr>
          <p:nvPr>
            <p:extLst>
              <p:ext uri="{D42A27DB-BD31-4B8C-83A1-F6EECF244321}">
                <p14:modId xmlns:p14="http://schemas.microsoft.com/office/powerpoint/2010/main" val="1901107191"/>
              </p:ext>
            </p:extLst>
          </p:nvPr>
        </p:nvGraphicFramePr>
        <p:xfrm>
          <a:off x="1219200" y="2971800"/>
          <a:ext cx="6934200" cy="1584960"/>
        </p:xfrm>
        <a:graphic>
          <a:graphicData uri="http://schemas.openxmlformats.org/drawingml/2006/table">
            <a:tbl>
              <a:tblPr firstRow="1" bandRow="1">
                <a:tableStyleId>{00A15C55-8517-42AA-B614-E9B94910E393}</a:tableStyleId>
              </a:tblPr>
              <a:tblGrid>
                <a:gridCol w="780098">
                  <a:extLst>
                    <a:ext uri="{9D8B030D-6E8A-4147-A177-3AD203B41FA5}">
                      <a16:colId xmlns:a16="http://schemas.microsoft.com/office/drawing/2014/main" val="20000"/>
                    </a:ext>
                  </a:extLst>
                </a:gridCol>
                <a:gridCol w="1839489">
                  <a:extLst>
                    <a:ext uri="{9D8B030D-6E8A-4147-A177-3AD203B41FA5}">
                      <a16:colId xmlns:a16="http://schemas.microsoft.com/office/drawing/2014/main" val="20001"/>
                    </a:ext>
                  </a:extLst>
                </a:gridCol>
                <a:gridCol w="4314613">
                  <a:extLst>
                    <a:ext uri="{9D8B030D-6E8A-4147-A177-3AD203B41FA5}">
                      <a16:colId xmlns:a16="http://schemas.microsoft.com/office/drawing/2014/main" val="20002"/>
                    </a:ext>
                  </a:extLst>
                </a:gridCol>
              </a:tblGrid>
              <a:tr h="315074">
                <a:tc>
                  <a:txBody>
                    <a:bodyPr/>
                    <a:lstStyle/>
                    <a:p>
                      <a:pPr algn="ctr"/>
                      <a:r>
                        <a:rPr lang="en-US" sz="2000" b="1" dirty="0"/>
                        <a:t>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Roll.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Student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15074">
                <a:tc>
                  <a:txBody>
                    <a:bodyPr/>
                    <a:lstStyle/>
                    <a:p>
                      <a:pPr algn="ctr"/>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23881A05A7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err="1"/>
                        <a:t>P.Vishnu</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15074">
                <a:tc>
                  <a:txBody>
                    <a:bodyPr/>
                    <a:lstStyle/>
                    <a:p>
                      <a:pPr algn="ctr"/>
                      <a:r>
                        <a:rPr lang="en-US" sz="2000"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23881A05B9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err="1"/>
                        <a:t>S.Deepak</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15074">
                <a:tc>
                  <a:txBody>
                    <a:bodyPr/>
                    <a:lstStyle/>
                    <a:p>
                      <a:pPr algn="ctr"/>
                      <a:r>
                        <a:rPr lang="en-US" sz="2000"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23881A05C6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err="1"/>
                        <a:t>V.Deepika</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1026" name="Picture 2" descr="C:\Users\User\Downloads\VCE LOGO.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7779" t="13168" r="7306" b="14839"/>
          <a:stretch/>
        </p:blipFill>
        <p:spPr bwMode="auto">
          <a:xfrm>
            <a:off x="4087789" y="227236"/>
            <a:ext cx="1170011" cy="9919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3BCD6-0BDF-480C-A0B6-637D78994FE8}"/>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spcAft>
                <a:spcPts val="0"/>
              </a:spcAft>
              <a:defRPr/>
            </a:pPr>
            <a:r>
              <a:rPr lang="en-US" sz="3200" b="1" dirty="0">
                <a:solidFill>
                  <a:schemeClr val="accent2">
                    <a:lumMod val="75000"/>
                  </a:schemeClr>
                </a:solidFill>
              </a:rPr>
              <a:t>Mini Project Review-4 Outlines</a:t>
            </a:r>
          </a:p>
        </p:txBody>
      </p:sp>
      <p:sp>
        <p:nvSpPr>
          <p:cNvPr id="3" name="Content Placeholder 2">
            <a:extLst>
              <a:ext uri="{FF2B5EF4-FFF2-40B4-BE49-F238E27FC236}">
                <a16:creationId xmlns:a16="http://schemas.microsoft.com/office/drawing/2014/main" id="{9B0F8B19-D2C3-436D-A49D-CAD348F238EB}"/>
              </a:ext>
            </a:extLst>
          </p:cNvPr>
          <p:cNvSpPr>
            <a:spLocks noGrp="1"/>
          </p:cNvSpPr>
          <p:nvPr>
            <p:ph idx="1"/>
          </p:nvPr>
        </p:nvSpPr>
        <p:spPr>
          <a:xfrm>
            <a:off x="228600" y="1014413"/>
            <a:ext cx="8763000" cy="5614987"/>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Autofit/>
          </a:bodyPr>
          <a:lstStyle/>
          <a:p>
            <a:pPr fontAlgn="auto">
              <a:lnSpc>
                <a:spcPct val="110000"/>
              </a:lnSpc>
              <a:spcBef>
                <a:spcPts val="1200"/>
              </a:spcBef>
              <a:spcAft>
                <a:spcPts val="0"/>
              </a:spcAft>
              <a:defRPr/>
            </a:pPr>
            <a:r>
              <a:rPr lang="en-US" sz="1800" b="1" dirty="0">
                <a:ea typeface="+mn-lt"/>
                <a:cs typeface="+mn-lt"/>
              </a:rPr>
              <a:t>Main idea of the Project</a:t>
            </a:r>
            <a:endParaRPr lang="en-US" sz="1800" dirty="0">
              <a:ea typeface="+mn-lt"/>
              <a:cs typeface="+mn-lt"/>
            </a:endParaRPr>
          </a:p>
          <a:p>
            <a:pPr>
              <a:lnSpc>
                <a:spcPct val="110000"/>
              </a:lnSpc>
              <a:spcBef>
                <a:spcPts val="1200"/>
              </a:spcBef>
              <a:spcAft>
                <a:spcPts val="0"/>
              </a:spcAft>
              <a:defRPr/>
            </a:pPr>
            <a:r>
              <a:rPr lang="en-US" sz="1800" b="1" dirty="0">
                <a:ea typeface="+mn-lt"/>
                <a:cs typeface="+mn-lt"/>
              </a:rPr>
              <a:t>Existing System Vs Proposed </a:t>
            </a:r>
            <a:endParaRPr lang="en-US" sz="1800" dirty="0">
              <a:ea typeface="+mn-lt"/>
              <a:cs typeface="+mn-lt"/>
            </a:endParaRPr>
          </a:p>
          <a:p>
            <a:pPr>
              <a:lnSpc>
                <a:spcPct val="110000"/>
              </a:lnSpc>
              <a:spcBef>
                <a:spcPts val="1200"/>
              </a:spcBef>
              <a:spcAft>
                <a:spcPts val="0"/>
              </a:spcAft>
              <a:defRPr/>
            </a:pPr>
            <a:r>
              <a:rPr lang="en-US" sz="1800" b="1" dirty="0">
                <a:ea typeface="+mn-lt"/>
                <a:cs typeface="+mn-lt"/>
              </a:rPr>
              <a:t>Proposed Project Objectives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Proposed Project Outcomes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Software and Hardware Requirements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Process Model</a:t>
            </a:r>
            <a:endParaRPr lang="en-US" sz="1800" dirty="0">
              <a:ea typeface="+mn-lt"/>
              <a:cs typeface="+mn-lt"/>
            </a:endParaRPr>
          </a:p>
          <a:p>
            <a:pPr>
              <a:lnSpc>
                <a:spcPct val="110000"/>
              </a:lnSpc>
              <a:spcBef>
                <a:spcPts val="1200"/>
              </a:spcBef>
              <a:spcAft>
                <a:spcPts val="0"/>
              </a:spcAft>
              <a:defRPr/>
            </a:pPr>
            <a:r>
              <a:rPr lang="en-US" sz="1800" b="1" dirty="0">
                <a:ea typeface="+mn-lt"/>
                <a:cs typeface="+mn-lt"/>
              </a:rPr>
              <a:t>Design Phase</a:t>
            </a:r>
            <a:endParaRPr lang="en-US" sz="1800" dirty="0">
              <a:ea typeface="+mn-lt"/>
              <a:cs typeface="+mn-lt"/>
            </a:endParaRPr>
          </a:p>
          <a:p>
            <a:pPr lvl="1">
              <a:lnSpc>
                <a:spcPct val="110000"/>
              </a:lnSpc>
              <a:spcBef>
                <a:spcPts val="1200"/>
              </a:spcBef>
              <a:spcAft>
                <a:spcPts val="0"/>
              </a:spcAft>
              <a:buFont typeface="Arial,Sans-Serif" panose="020B0604020202020204" pitchFamily="34" charset="0"/>
              <a:defRPr/>
            </a:pPr>
            <a:r>
              <a:rPr lang="en-US" sz="1800" b="1" dirty="0">
                <a:ea typeface="+mn-lt"/>
                <a:cs typeface="+mn-lt"/>
              </a:rPr>
              <a:t>Architectural Diagram [Modified]</a:t>
            </a:r>
            <a:endParaRPr lang="en-US" sz="1800" dirty="0">
              <a:ea typeface="+mn-lt"/>
              <a:cs typeface="+mn-lt"/>
            </a:endParaRPr>
          </a:p>
          <a:p>
            <a:pPr lvl="1">
              <a:lnSpc>
                <a:spcPct val="110000"/>
              </a:lnSpc>
              <a:spcBef>
                <a:spcPts val="1200"/>
              </a:spcBef>
              <a:spcAft>
                <a:spcPts val="0"/>
              </a:spcAft>
              <a:buFont typeface="Arial,Sans-Serif" panose="020B0604020202020204" pitchFamily="34" charset="0"/>
              <a:defRPr/>
            </a:pPr>
            <a:r>
              <a:rPr lang="en-US" sz="1800" b="1" dirty="0">
                <a:ea typeface="+mn-lt"/>
                <a:cs typeface="+mn-lt"/>
              </a:rPr>
              <a:t>[UML Diagrams or Data Flow Diagrams] and ER-Diagrams </a:t>
            </a:r>
            <a:endParaRPr lang="en-US" sz="1800" dirty="0">
              <a:ea typeface="+mn-lt"/>
              <a:cs typeface="+mn-lt"/>
            </a:endParaRPr>
          </a:p>
          <a:p>
            <a:pPr>
              <a:lnSpc>
                <a:spcPct val="110000"/>
              </a:lnSpc>
              <a:spcBef>
                <a:spcPts val="1200"/>
              </a:spcBef>
              <a:spcAft>
                <a:spcPts val="0"/>
              </a:spcAft>
              <a:buFont typeface="Arial,Sans-Serif" panose="020B0604020202020204" pitchFamily="34" charset="0"/>
              <a:defRPr/>
            </a:pPr>
            <a:r>
              <a:rPr lang="en-US" sz="1800" b="1" dirty="0">
                <a:ea typeface="+mn-lt"/>
                <a:cs typeface="+mn-lt"/>
              </a:rPr>
              <a:t>Proposed Methods and Algorithms </a:t>
            </a:r>
          </a:p>
          <a:p>
            <a:pPr>
              <a:lnSpc>
                <a:spcPct val="110000"/>
              </a:lnSpc>
              <a:spcBef>
                <a:spcPts val="1200"/>
              </a:spcBef>
              <a:spcAft>
                <a:spcPts val="0"/>
              </a:spcAft>
              <a:buFont typeface="Arial,Sans-Serif" panose="020B0604020202020204" pitchFamily="34" charset="0"/>
              <a:defRPr/>
            </a:pPr>
            <a:r>
              <a:rPr lang="en-US" sz="1800" b="1" dirty="0">
                <a:ea typeface="+mn-lt"/>
                <a:cs typeface="+mn-lt"/>
              </a:rPr>
              <a:t>Results</a:t>
            </a:r>
          </a:p>
          <a:p>
            <a:pPr>
              <a:lnSpc>
                <a:spcPct val="110000"/>
              </a:lnSpc>
              <a:spcBef>
                <a:spcPts val="1200"/>
              </a:spcBef>
              <a:spcAft>
                <a:spcPts val="0"/>
              </a:spcAft>
              <a:buFont typeface="Arial,Sans-Serif" panose="020B0604020202020204" pitchFamily="34" charset="0"/>
              <a:defRPr/>
            </a:pPr>
            <a:r>
              <a:rPr lang="en-US" sz="1800" b="1" dirty="0">
                <a:ea typeface="+mn-lt"/>
                <a:cs typeface="+mn-lt"/>
              </a:rPr>
              <a:t>Conclusion</a:t>
            </a:r>
            <a:endParaRPr lang="en-US" sz="1100" dirty="0"/>
          </a:p>
          <a:p>
            <a:pPr marL="0" indent="0" fontAlgn="auto">
              <a:spcAft>
                <a:spcPts val="0"/>
              </a:spcAft>
              <a:buNone/>
              <a:defRPr/>
            </a:pP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p:txBody>
      </p:sp>
      <p:sp>
        <p:nvSpPr>
          <p:cNvPr id="5" name="Slide Number Placeholder 4">
            <a:extLst>
              <a:ext uri="{FF2B5EF4-FFF2-40B4-BE49-F238E27FC236}">
                <a16:creationId xmlns:a16="http://schemas.microsoft.com/office/drawing/2014/main" id="{A1A625E3-5C6C-47E5-A216-96E946FCDCF9}"/>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3DC7A18A-CF2F-40C0-9C89-65D9A71130B3}" type="slidenum">
              <a:rPr lang="en-US" altLang="en-US">
                <a:solidFill>
                  <a:srgbClr val="898989"/>
                </a:solidFill>
              </a:rPr>
              <a:pPr/>
              <a:t>2</a:t>
            </a:fld>
            <a:endParaRPr lang="en-US" altLang="en-US">
              <a:solidFill>
                <a:srgbClr val="898989"/>
              </a:solidFill>
            </a:endParaRPr>
          </a:p>
        </p:txBody>
      </p:sp>
      <p:sp>
        <p:nvSpPr>
          <p:cNvPr id="8"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228600" y="6356350"/>
            <a:ext cx="8763000" cy="365125"/>
          </a:xfrm>
        </p:spPr>
        <p:txBody>
          <a:bodyPr/>
          <a:lstStyle/>
          <a:p>
            <a:pPr>
              <a:defRPr/>
            </a:pPr>
            <a:r>
              <a:rPr lang="en-US" dirty="0"/>
              <a:t>DEPARTMENT OF CSE MINI PROJECT REVIEW</a:t>
            </a:r>
          </a:p>
        </p:txBody>
      </p:sp>
      <p:pic>
        <p:nvPicPr>
          <p:cNvPr id="7" name="Picture 2" descr="C:\Users\User\Downloads\VCE LOGO.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779" t="13168" r="7306" b="14839"/>
          <a:stretch/>
        </p:blipFill>
        <p:spPr bwMode="auto">
          <a:xfrm>
            <a:off x="7772400" y="-1364"/>
            <a:ext cx="1170011" cy="9919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5FFB9-D3CC-44A9-9FC7-C2A67668EBD8}"/>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Main idea of the Project</a:t>
            </a:r>
          </a:p>
        </p:txBody>
      </p:sp>
      <p:sp>
        <p:nvSpPr>
          <p:cNvPr id="3" name="Content Placeholder 2">
            <a:extLst>
              <a:ext uri="{FF2B5EF4-FFF2-40B4-BE49-F238E27FC236}">
                <a16:creationId xmlns:a16="http://schemas.microsoft.com/office/drawing/2014/main" id="{A815A160-9E89-4EFA-87F2-5AD9612AF7E2}"/>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rmAutofit/>
          </a:bodyPr>
          <a:lstStyle/>
          <a:p>
            <a:r>
              <a:rPr lang="en-US" sz="2000" dirty="0"/>
              <a:t>The project aims to develop an intelligent surveillance system capable of automatically detecting suspicious human activities from video data. The system integrates computer vision and deep learning techniques to analyze both </a:t>
            </a:r>
            <a:r>
              <a:rPr lang="en-US" sz="2000" b="1" dirty="0"/>
              <a:t>facial emotions</a:t>
            </a:r>
            <a:r>
              <a:rPr lang="en-US" sz="2000" dirty="0"/>
              <a:t> and </a:t>
            </a:r>
            <a:r>
              <a:rPr lang="en-US" sz="2000" b="1" dirty="0"/>
              <a:t>human behavioral patterns</a:t>
            </a:r>
            <a:r>
              <a:rPr lang="en-US" sz="2000" dirty="0"/>
              <a:t>. By combining these two aspects using a weighted scoring mechanism, the system identifies whether a person’s activity is normal or suspicious. The main idea is to reduce dependency on manual monitoring and improve early detection of potential threats.</a:t>
            </a:r>
          </a:p>
          <a:p>
            <a:endParaRPr lang="en-US" sz="2000" dirty="0">
              <a:cs typeface="Calibri"/>
            </a:endParaRPr>
          </a:p>
          <a:p>
            <a:endParaRPr lang="en-US" sz="2000" dirty="0">
              <a:cs typeface="Calibri"/>
            </a:endParaRPr>
          </a:p>
        </p:txBody>
      </p:sp>
      <p:sp>
        <p:nvSpPr>
          <p:cNvPr id="5" name="Slide Number Placeholder 4">
            <a:extLst>
              <a:ext uri="{FF2B5EF4-FFF2-40B4-BE49-F238E27FC236}">
                <a16:creationId xmlns:a16="http://schemas.microsoft.com/office/drawing/2014/main" id="{8F18BBA2-811F-41E1-AEAF-A3557D1BE27B}"/>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DEC69A3-0958-4FE2-B1B4-1106920B80C0}" type="slidenum">
              <a:rPr lang="en-US" altLang="en-US">
                <a:solidFill>
                  <a:srgbClr val="898989"/>
                </a:solidFill>
              </a:rPr>
              <a:pPr/>
              <a:t>3</a:t>
            </a:fld>
            <a:endParaRPr lang="en-US" altLang="en-US">
              <a:solidFill>
                <a:srgbClr val="898989"/>
              </a:solidFill>
            </a:endParaRPr>
          </a:p>
        </p:txBody>
      </p:sp>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a:t>
            </a:r>
          </a:p>
        </p:txBody>
      </p:sp>
      <p:pic>
        <p:nvPicPr>
          <p:cNvPr id="8" name="Picture 2" descr="C:\Users\User\Downloads\VCE LOGO.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7779" t="13168" r="7306" b="14839"/>
          <a:stretch/>
        </p:blipFill>
        <p:spPr bwMode="auto">
          <a:xfrm>
            <a:off x="7848600" y="76200"/>
            <a:ext cx="1078526" cy="914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47736633-8E1B-23C6-DEEA-8BC55A9414DE}"/>
              </a:ext>
            </a:extLst>
          </p:cNvPr>
          <p:cNvPicPr>
            <a:picLocks noChangeAspect="1"/>
          </p:cNvPicPr>
          <p:nvPr/>
        </p:nvPicPr>
        <p:blipFill>
          <a:blip r:embed="rId3">
            <a:extLst>
              <a:ext uri="{28A0092B-C50C-407E-A947-70E740481C1C}">
                <a14:useLocalDpi xmlns:a14="http://schemas.microsoft.com/office/drawing/2010/main" val="0"/>
              </a:ext>
            </a:extLst>
          </a:blip>
          <a:srcRect t="28571" b="21429"/>
          <a:stretch>
            <a:fillRect/>
          </a:stretch>
        </p:blipFill>
        <p:spPr>
          <a:xfrm>
            <a:off x="1447800" y="3657600"/>
            <a:ext cx="5966460" cy="2781300"/>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28CED-A8D7-449C-97C8-99B0836452E6}"/>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Existing System Vs Proposed </a:t>
            </a:r>
          </a:p>
        </p:txBody>
      </p:sp>
      <p:sp>
        <p:nvSpPr>
          <p:cNvPr id="5" name="Slide Number Placeholder 4">
            <a:extLst>
              <a:ext uri="{FF2B5EF4-FFF2-40B4-BE49-F238E27FC236}">
                <a16:creationId xmlns:a16="http://schemas.microsoft.com/office/drawing/2014/main" id="{7796F442-E18B-4635-9FAA-701AD322F9E1}"/>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5C5A9F0-E73D-4B60-A9C9-5ECD709B9C67}" type="slidenum">
              <a:rPr lang="en-US" altLang="en-US">
                <a:solidFill>
                  <a:srgbClr val="898989"/>
                </a:solidFill>
              </a:rPr>
              <a:pPr/>
              <a:t>4</a:t>
            </a:fld>
            <a:endParaRPr lang="en-US" altLang="en-US">
              <a:solidFill>
                <a:srgbClr val="898989"/>
              </a:solidFill>
            </a:endParaRPr>
          </a:p>
        </p:txBody>
      </p:sp>
      <p:sp>
        <p:nvSpPr>
          <p:cNvPr id="7" name="Footer Placeholder 6">
            <a:extLst>
              <a:ext uri="{FF2B5EF4-FFF2-40B4-BE49-F238E27FC236}">
                <a16:creationId xmlns:a16="http://schemas.microsoft.com/office/drawing/2014/main" id="{5D6B6BA2-8763-4063-9DAF-378FCB0B449B}"/>
              </a:ext>
            </a:extLst>
          </p:cNvPr>
          <p:cNvSpPr>
            <a:spLocks noGrp="1"/>
          </p:cNvSpPr>
          <p:nvPr>
            <p:ph type="ftr" sz="quarter" idx="11"/>
          </p:nvPr>
        </p:nvSpPr>
        <p:spPr>
          <a:xfrm>
            <a:off x="2362200" y="6356350"/>
            <a:ext cx="4114800" cy="365125"/>
          </a:xfrm>
        </p:spPr>
        <p:txBody>
          <a:bodyPr/>
          <a:lstStyle/>
          <a:p>
            <a:pPr>
              <a:defRPr/>
            </a:pPr>
            <a:r>
              <a:rPr lang="en-US" dirty="0"/>
              <a:t>DEPARTMENT OF CSD MINI PROJECT REVIEW-1</a:t>
            </a:r>
          </a:p>
        </p:txBody>
      </p:sp>
      <p:sp>
        <p:nvSpPr>
          <p:cNvPr id="9" name="Content Placeholder 8"/>
          <p:cNvSpPr>
            <a:spLocks noGrp="1"/>
          </p:cNvSpPr>
          <p:nvPr>
            <p:ph idx="1"/>
          </p:nvPr>
        </p:nvSpPr>
        <p:spPr/>
        <p:txBody>
          <a:bodyPr/>
          <a:lstStyle/>
          <a:p>
            <a:endParaRPr lang="en-US" dirty="0"/>
          </a:p>
        </p:txBody>
      </p:sp>
      <p:sp>
        <p:nvSpPr>
          <p:cNvPr id="4" name="Content Placeholder 2">
            <a:extLst>
              <a:ext uri="{FF2B5EF4-FFF2-40B4-BE49-F238E27FC236}">
                <a16:creationId xmlns:a16="http://schemas.microsoft.com/office/drawing/2014/main" id="{6CE7D5AF-E7FA-CA07-9D90-D8FD812F3F68}"/>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buNone/>
            </a:pPr>
            <a:r>
              <a:rPr lang="en-IN" sz="2000" b="1" dirty="0"/>
              <a:t>Existing System</a:t>
            </a:r>
          </a:p>
          <a:p>
            <a:r>
              <a:rPr lang="en-IN" sz="2000" dirty="0"/>
              <a:t>Uses YOLOv8 for human detection</a:t>
            </a:r>
          </a:p>
          <a:p>
            <a:r>
              <a:rPr lang="en-IN" sz="2000" dirty="0"/>
              <a:t>Uses </a:t>
            </a:r>
            <a:r>
              <a:rPr lang="en-IN" sz="2000" dirty="0" err="1"/>
              <a:t>DeepFace</a:t>
            </a:r>
            <a:r>
              <a:rPr lang="en-IN" sz="2000" dirty="0"/>
              <a:t> for emotion recognition</a:t>
            </a:r>
          </a:p>
          <a:p>
            <a:r>
              <a:rPr lang="en-IN" sz="2000" dirty="0"/>
              <a:t>Basic fusion of emotion and </a:t>
            </a:r>
            <a:r>
              <a:rPr lang="en-IN" sz="2000" dirty="0" err="1"/>
              <a:t>behavior</a:t>
            </a:r>
            <a:endParaRPr lang="en-IN" sz="2000" dirty="0"/>
          </a:p>
          <a:p>
            <a:r>
              <a:rPr lang="en-IN" sz="2000" dirty="0"/>
              <a:t>Lower accuracy due to equal weighting</a:t>
            </a:r>
          </a:p>
          <a:p>
            <a:r>
              <a:rPr lang="en-IN" sz="2000" dirty="0"/>
              <a:t>Limited focus on </a:t>
            </a:r>
            <a:r>
              <a:rPr lang="en-IN" sz="2000" dirty="0" err="1"/>
              <a:t>behavioral</a:t>
            </a:r>
            <a:r>
              <a:rPr lang="en-IN" sz="2000" dirty="0"/>
              <a:t> importance</a:t>
            </a:r>
          </a:p>
          <a:p>
            <a:pPr marL="0" indent="0">
              <a:buNone/>
            </a:pPr>
            <a:endParaRPr lang="en-IN" sz="2000" dirty="0"/>
          </a:p>
          <a:p>
            <a:pPr marL="0" indent="0">
              <a:buNone/>
            </a:pPr>
            <a:r>
              <a:rPr lang="en-IN" sz="2000" b="1" dirty="0"/>
              <a:t>Proposed System</a:t>
            </a:r>
          </a:p>
          <a:p>
            <a:r>
              <a:rPr lang="en-IN" sz="2000" dirty="0"/>
              <a:t>Uses YOLOv8, </a:t>
            </a:r>
            <a:r>
              <a:rPr lang="en-IN" sz="2000" dirty="0" err="1"/>
              <a:t>DeepFace</a:t>
            </a:r>
            <a:r>
              <a:rPr lang="en-IN" sz="2000" dirty="0"/>
              <a:t>, and </a:t>
            </a:r>
            <a:r>
              <a:rPr lang="en-IN" sz="2000" dirty="0" err="1"/>
              <a:t>MediaPipe</a:t>
            </a:r>
            <a:r>
              <a:rPr lang="en-IN" sz="2000" dirty="0"/>
              <a:t> Pose</a:t>
            </a:r>
          </a:p>
          <a:p>
            <a:r>
              <a:rPr lang="en-IN" sz="2000" dirty="0"/>
              <a:t>Introduces </a:t>
            </a:r>
            <a:r>
              <a:rPr lang="en-IN" sz="2000" b="1" dirty="0"/>
              <a:t>weighted scoring mechanism</a:t>
            </a:r>
            <a:endParaRPr lang="en-IN" sz="2000" dirty="0"/>
          </a:p>
          <a:p>
            <a:r>
              <a:rPr lang="en-IN" sz="2000" dirty="0" err="1"/>
              <a:t>Behavior</a:t>
            </a:r>
            <a:r>
              <a:rPr lang="en-IN" sz="2000" dirty="0"/>
              <a:t> given higher importance (0.9)</a:t>
            </a:r>
          </a:p>
          <a:p>
            <a:r>
              <a:rPr lang="en-IN" sz="2000" dirty="0"/>
              <a:t>Emotion used as supporting factor (0.1)</a:t>
            </a:r>
          </a:p>
          <a:p>
            <a:r>
              <a:rPr lang="en-IN" sz="2000" dirty="0"/>
              <a:t>Improved detection performance (83% best accuracy)</a:t>
            </a:r>
          </a:p>
        </p:txBody>
      </p:sp>
      <p:sp>
        <p:nvSpPr>
          <p:cNvPr id="10"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MINI PROJECT REVIEW</a:t>
            </a:r>
          </a:p>
        </p:txBody>
      </p:sp>
      <p:pic>
        <p:nvPicPr>
          <p:cNvPr id="11" name="Picture 2" descr="C:\Users\User\Downloads\VCE LOGO.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779" t="13168" r="7306" b="14839"/>
          <a:stretch/>
        </p:blipFill>
        <p:spPr bwMode="auto">
          <a:xfrm>
            <a:off x="7848600" y="87504"/>
            <a:ext cx="1066800" cy="9044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24ACF-E93E-429C-B571-59A1E5F854AE}"/>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Proposed Project Objectives</a:t>
            </a:r>
          </a:p>
        </p:txBody>
      </p:sp>
      <p:sp>
        <p:nvSpPr>
          <p:cNvPr id="3" name="Content Placeholder 2">
            <a:extLst>
              <a:ext uri="{FF2B5EF4-FFF2-40B4-BE49-F238E27FC236}">
                <a16:creationId xmlns:a16="http://schemas.microsoft.com/office/drawing/2014/main" id="{0F718A44-8ABC-42DF-9BB1-E9A15FE0BCFB}"/>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Autofit/>
          </a:bodyPr>
          <a:lstStyle/>
          <a:p>
            <a:pPr marL="0" indent="0" fontAlgn="auto">
              <a:spcAft>
                <a:spcPts val="0"/>
              </a:spcAft>
              <a:buNone/>
              <a:defRPr/>
            </a:pPr>
            <a:endParaRPr lang="en-US" sz="2500" dirty="0"/>
          </a:p>
          <a:p>
            <a:pPr marL="0" lvl="0" indent="0" eaLnBrk="0" hangingPunct="0">
              <a:spcBef>
                <a:spcPct val="0"/>
              </a:spcBef>
              <a:buFontTx/>
              <a:buChar char="•"/>
            </a:pPr>
            <a:r>
              <a:rPr lang="en-US" altLang="en-US" sz="2800" dirty="0">
                <a:solidFill>
                  <a:schemeClr val="tx1"/>
                </a:solidFill>
                <a:latin typeface="Arial" panose="020B0604020202020204" pitchFamily="34" charset="0"/>
              </a:rPr>
              <a:t>Detect suspicious human activities automatically</a:t>
            </a:r>
          </a:p>
          <a:p>
            <a:pPr marL="0" lvl="0" indent="0" eaLnBrk="0" hangingPunct="0">
              <a:spcBef>
                <a:spcPct val="0"/>
              </a:spcBef>
              <a:buFontTx/>
              <a:buChar char="•"/>
            </a:pPr>
            <a:r>
              <a:rPr lang="en-US" altLang="en-US" sz="2800" dirty="0">
                <a:solidFill>
                  <a:schemeClr val="tx1"/>
                </a:solidFill>
                <a:latin typeface="Arial" panose="020B0604020202020204" pitchFamily="34" charset="0"/>
              </a:rPr>
              <a:t>Analyze both emotion and behavior from video</a:t>
            </a:r>
          </a:p>
          <a:p>
            <a:pPr marL="0" lvl="0" indent="0" eaLnBrk="0" hangingPunct="0">
              <a:spcBef>
                <a:spcPct val="0"/>
              </a:spcBef>
              <a:buFontTx/>
              <a:buChar char="•"/>
            </a:pPr>
            <a:r>
              <a:rPr lang="en-US" altLang="en-US" sz="2800" dirty="0">
                <a:solidFill>
                  <a:schemeClr val="tx1"/>
                </a:solidFill>
                <a:latin typeface="Arial" panose="020B0604020202020204" pitchFamily="34" charset="0"/>
              </a:rPr>
              <a:t>Improve detection accuracy using weighted scoring</a:t>
            </a:r>
          </a:p>
          <a:p>
            <a:pPr marL="0" lvl="0" indent="0" eaLnBrk="0" hangingPunct="0">
              <a:spcBef>
                <a:spcPct val="0"/>
              </a:spcBef>
              <a:buFontTx/>
              <a:buChar char="•"/>
            </a:pPr>
            <a:r>
              <a:rPr lang="en-US" altLang="en-US" sz="2800" dirty="0">
                <a:solidFill>
                  <a:schemeClr val="tx1"/>
                </a:solidFill>
                <a:latin typeface="Arial" panose="020B0604020202020204" pitchFamily="34" charset="0"/>
              </a:rPr>
              <a:t>Reduce human effort in surveillance monitoring</a:t>
            </a:r>
          </a:p>
          <a:p>
            <a:pPr marL="0" lvl="0" indent="0" eaLnBrk="0" hangingPunct="0">
              <a:spcBef>
                <a:spcPct val="0"/>
              </a:spcBef>
              <a:buFontTx/>
              <a:buChar char="•"/>
            </a:pPr>
            <a:r>
              <a:rPr lang="en-US" altLang="en-US" sz="2800" dirty="0">
                <a:solidFill>
                  <a:schemeClr val="tx1"/>
                </a:solidFill>
                <a:latin typeface="Arial" panose="020B0604020202020204" pitchFamily="34" charset="0"/>
              </a:rPr>
              <a:t>Enable future real-time implementation</a:t>
            </a:r>
          </a:p>
          <a:p>
            <a:pPr fontAlgn="auto">
              <a:spcAft>
                <a:spcPts val="0"/>
              </a:spcAft>
              <a:defRPr/>
            </a:pPr>
            <a:endParaRPr lang="en-US" sz="2500" dirty="0"/>
          </a:p>
        </p:txBody>
      </p:sp>
      <p:sp>
        <p:nvSpPr>
          <p:cNvPr id="5" name="Slide Number Placeholder 4">
            <a:extLst>
              <a:ext uri="{FF2B5EF4-FFF2-40B4-BE49-F238E27FC236}">
                <a16:creationId xmlns:a16="http://schemas.microsoft.com/office/drawing/2014/main" id="{4F44F6A7-E80B-4C13-8FAA-7BE38155FAB8}"/>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83C13DFD-FA58-48AD-B109-2C30D8D6F058}" type="slidenum">
              <a:rPr lang="en-US" altLang="en-US">
                <a:solidFill>
                  <a:srgbClr val="898989"/>
                </a:solidFill>
              </a:rPr>
              <a:pPr/>
              <a:t>5</a:t>
            </a:fld>
            <a:endParaRPr lang="en-US" altLang="en-US">
              <a:solidFill>
                <a:srgbClr val="898989"/>
              </a:solidFill>
            </a:endParaRPr>
          </a:p>
        </p:txBody>
      </p:sp>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228600" y="6324600"/>
            <a:ext cx="8839200" cy="365125"/>
          </a:xfrm>
        </p:spPr>
        <p:txBody>
          <a:bodyPr/>
          <a:lstStyle/>
          <a:p>
            <a:pPr>
              <a:defRPr/>
            </a:pPr>
            <a:r>
              <a:rPr lang="en-US" dirty="0"/>
              <a:t>DEPARTMENT OF CSE MINI PROJECT REVIEW</a:t>
            </a:r>
          </a:p>
        </p:txBody>
      </p:sp>
      <p:pic>
        <p:nvPicPr>
          <p:cNvPr id="8" name="Picture 2" descr="C:\Users\User\Downloads\VCE LOGO.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7779" t="13168" r="7306" b="14839"/>
          <a:stretch/>
        </p:blipFill>
        <p:spPr bwMode="auto">
          <a:xfrm>
            <a:off x="7848600" y="87504"/>
            <a:ext cx="1066800" cy="90445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9D65CD1D-04DC-25C9-3E64-0F5CE93CDB44}"/>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47F86-32D9-3EF0-71F6-2C00CD4D5C07}"/>
              </a:ext>
            </a:extLst>
          </p:cNvPr>
          <p:cNvSpPr>
            <a:spLocks noGrp="1"/>
          </p:cNvSpPr>
          <p:nvPr>
            <p:ph type="title"/>
          </p:nvPr>
        </p:nvSpPr>
        <p:spPr>
          <a:xfrm>
            <a:off x="381000" y="685799"/>
            <a:ext cx="8229600" cy="769095"/>
          </a:xfrm>
          <a:ln w="28575">
            <a:solidFill>
              <a:schemeClr val="accent1"/>
            </a:solidFill>
          </a:ln>
        </p:spPr>
        <p:txBody>
          <a:bodyPr/>
          <a:lstStyle/>
          <a:p>
            <a:r>
              <a:rPr lang="en-US" b="1" dirty="0">
                <a:solidFill>
                  <a:srgbClr val="C00000"/>
                </a:solidFill>
              </a:rPr>
              <a:t>Proposed Project Outcomes</a:t>
            </a:r>
            <a:endParaRPr lang="en-IN" dirty="0">
              <a:solidFill>
                <a:srgbClr val="C00000"/>
              </a:solidFill>
            </a:endParaRPr>
          </a:p>
        </p:txBody>
      </p:sp>
      <p:sp>
        <p:nvSpPr>
          <p:cNvPr id="5" name="Slide Number Placeholder 4">
            <a:extLst>
              <a:ext uri="{FF2B5EF4-FFF2-40B4-BE49-F238E27FC236}">
                <a16:creationId xmlns:a16="http://schemas.microsoft.com/office/drawing/2014/main" id="{95E6B8D6-23F8-F8B0-4D91-ECD632B97F0E}"/>
              </a:ext>
            </a:extLst>
          </p:cNvPr>
          <p:cNvSpPr>
            <a:spLocks noGrp="1"/>
          </p:cNvSpPr>
          <p:nvPr>
            <p:ph type="sldNum" sz="quarter" idx="12"/>
          </p:nvPr>
        </p:nvSpPr>
        <p:spPr/>
        <p:txBody>
          <a:bodyPr/>
          <a:lstStyle/>
          <a:p>
            <a:fld id="{E021BEF2-95F5-417E-9097-980329164CCD}" type="slidenum">
              <a:rPr lang="en-US" altLang="en-US" smtClean="0"/>
              <a:pPr/>
              <a:t>6</a:t>
            </a:fld>
            <a:endParaRPr lang="en-US" altLang="en-US"/>
          </a:p>
        </p:txBody>
      </p:sp>
      <p:sp>
        <p:nvSpPr>
          <p:cNvPr id="8" name="Rectangle 2">
            <a:extLst>
              <a:ext uri="{FF2B5EF4-FFF2-40B4-BE49-F238E27FC236}">
                <a16:creationId xmlns:a16="http://schemas.microsoft.com/office/drawing/2014/main" id="{405B6793-5974-A2B2-D21D-742EC992A52E}"/>
              </a:ext>
            </a:extLst>
          </p:cNvPr>
          <p:cNvSpPr>
            <a:spLocks noGrp="1" noChangeArrowheads="1"/>
          </p:cNvSpPr>
          <p:nvPr>
            <p:ph idx="1"/>
          </p:nvPr>
        </p:nvSpPr>
        <p:spPr bwMode="auto">
          <a:xfrm>
            <a:off x="-3352800" y="3337560"/>
            <a:ext cx="2744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22" name="TextBox 21">
            <a:extLst>
              <a:ext uri="{FF2B5EF4-FFF2-40B4-BE49-F238E27FC236}">
                <a16:creationId xmlns:a16="http://schemas.microsoft.com/office/drawing/2014/main" id="{02F9959A-E37D-0202-5CA9-F2EEB2254235}"/>
              </a:ext>
            </a:extLst>
          </p:cNvPr>
          <p:cNvSpPr txBox="1"/>
          <p:nvPr/>
        </p:nvSpPr>
        <p:spPr>
          <a:xfrm>
            <a:off x="685800" y="1752600"/>
            <a:ext cx="6096000" cy="304698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Automated suspicious activity detection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Integration of multiple AI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Weighted scoring mechanism for better decisions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Achieved </a:t>
            </a:r>
            <a:r>
              <a:rPr kumimoji="0" lang="en-US" altLang="en-US" sz="2400" b="1" i="0" u="none" strike="noStrike" cap="none" normalizeH="0" baseline="0" dirty="0">
                <a:ln>
                  <a:noFill/>
                </a:ln>
                <a:solidFill>
                  <a:schemeClr val="tx1"/>
                </a:solidFill>
                <a:effectLst/>
                <a:latin typeface="Arial" panose="020B0604020202020204" pitchFamily="34" charset="0"/>
              </a:rPr>
              <a:t>83% best accuracy</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Provides foundation for smart surveillance systems</a:t>
            </a:r>
          </a:p>
        </p:txBody>
      </p:sp>
    </p:spTree>
    <p:extLst>
      <p:ext uri="{BB962C8B-B14F-4D97-AF65-F5344CB8AC3E}">
        <p14:creationId xmlns:p14="http://schemas.microsoft.com/office/powerpoint/2010/main" val="986222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Software and Hardware Requirements</a:t>
            </a:r>
          </a:p>
        </p:txBody>
      </p:sp>
      <p:sp>
        <p:nvSpPr>
          <p:cNvPr id="3" name="Content Placeholder 2"/>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ormAutofit fontScale="92500" lnSpcReduction="10000"/>
          </a:bodyPr>
          <a:lstStyle/>
          <a:p>
            <a:r>
              <a:rPr lang="en-IN" b="1" dirty="0"/>
              <a:t>Software</a:t>
            </a:r>
          </a:p>
          <a:p>
            <a:r>
              <a:rPr lang="en-IN" dirty="0"/>
              <a:t>Python</a:t>
            </a:r>
          </a:p>
          <a:p>
            <a:r>
              <a:rPr lang="en-IN" dirty="0"/>
              <a:t>OpenCV</a:t>
            </a:r>
          </a:p>
          <a:p>
            <a:r>
              <a:rPr lang="en-IN" dirty="0"/>
              <a:t>YOLOv8 (</a:t>
            </a:r>
            <a:r>
              <a:rPr lang="en-IN" dirty="0" err="1"/>
              <a:t>Ultralytics</a:t>
            </a:r>
            <a:r>
              <a:rPr lang="en-IN" dirty="0"/>
              <a:t>)</a:t>
            </a:r>
          </a:p>
          <a:p>
            <a:r>
              <a:rPr lang="en-IN" dirty="0" err="1"/>
              <a:t>DeepFace</a:t>
            </a:r>
            <a:endParaRPr lang="en-IN" dirty="0"/>
          </a:p>
          <a:p>
            <a:r>
              <a:rPr lang="en-IN" dirty="0" err="1"/>
              <a:t>MediaPipe</a:t>
            </a:r>
            <a:endParaRPr lang="en-IN" dirty="0"/>
          </a:p>
          <a:p>
            <a:r>
              <a:rPr lang="en-IN" dirty="0"/>
              <a:t>Google </a:t>
            </a:r>
            <a:r>
              <a:rPr lang="en-IN" dirty="0" err="1"/>
              <a:t>Colab</a:t>
            </a:r>
            <a:r>
              <a:rPr lang="en-IN" dirty="0"/>
              <a:t> / VS Code</a:t>
            </a:r>
          </a:p>
          <a:p>
            <a:r>
              <a:rPr lang="en-IN" b="1" dirty="0"/>
              <a:t>Hardware</a:t>
            </a:r>
          </a:p>
          <a:p>
            <a:r>
              <a:rPr lang="en-IN" dirty="0"/>
              <a:t>System with minimum 8GB RAM</a:t>
            </a:r>
          </a:p>
          <a:p>
            <a:r>
              <a:rPr lang="en-IN" dirty="0"/>
              <a:t>GPU (optional but recommended)</a:t>
            </a:r>
          </a:p>
          <a:p>
            <a:r>
              <a:rPr lang="en-IN" dirty="0"/>
              <a:t>Webcam / Video dataset</a:t>
            </a:r>
          </a:p>
        </p:txBody>
      </p:sp>
      <p:sp>
        <p:nvSpPr>
          <p:cNvPr id="5" name="Slide Number Placeholder 4"/>
          <p:cNvSpPr>
            <a:spLocks noGrp="1"/>
          </p:cNvSpPr>
          <p:nvPr>
            <p:ph type="sldNum" sz="quarter" idx="12"/>
          </p:nvPr>
        </p:nvSpPr>
        <p:spPr/>
        <p:txBody>
          <a:bodyPr/>
          <a:lstStyle/>
          <a:p>
            <a:fld id="{B6F15528-21DE-4FAA-801E-634DDDAF4B2B}" type="slidenum">
              <a:rPr lang="en-US"/>
              <a:pPr/>
              <a:t>7</a:t>
            </a:fld>
            <a:endParaRPr lang="en-US"/>
          </a:p>
        </p:txBody>
      </p:sp>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a:t>
            </a:r>
          </a:p>
        </p:txBody>
      </p:sp>
      <p:pic>
        <p:nvPicPr>
          <p:cNvPr id="8" name="Picture 2" descr="C:\Users\User\Downloads\VCE LOGO.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7779" t="13168" r="7306" b="14839"/>
          <a:stretch/>
        </p:blipFill>
        <p:spPr bwMode="auto">
          <a:xfrm>
            <a:off x="7848600" y="87504"/>
            <a:ext cx="1066800" cy="9044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F901D-E22F-4DE8-9432-DE53CF2D0382}"/>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Process Model</a:t>
            </a:r>
          </a:p>
        </p:txBody>
      </p:sp>
      <p:sp>
        <p:nvSpPr>
          <p:cNvPr id="5" name="Slide Number Placeholder 4">
            <a:extLst>
              <a:ext uri="{FF2B5EF4-FFF2-40B4-BE49-F238E27FC236}">
                <a16:creationId xmlns:a16="http://schemas.microsoft.com/office/drawing/2014/main" id="{8FA3DC3E-817D-4934-A8A3-9B35012B69C8}"/>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2F14D1DE-E57B-4FC7-9D83-AB1C4CB583B1}" type="slidenum">
              <a:rPr lang="en-US" altLang="en-US">
                <a:solidFill>
                  <a:srgbClr val="898989"/>
                </a:solidFill>
              </a:rPr>
              <a:pPr/>
              <a:t>8</a:t>
            </a:fld>
            <a:endParaRPr lang="en-US" altLang="en-US">
              <a:solidFill>
                <a:srgbClr val="898989"/>
              </a:solidFill>
            </a:endParaRPr>
          </a:p>
        </p:txBody>
      </p:sp>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a:t>
            </a:r>
          </a:p>
        </p:txBody>
      </p:sp>
      <p:pic>
        <p:nvPicPr>
          <p:cNvPr id="8" name="Picture 2" descr="C:\Users\User\Downloads\VCE LOGO.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7779" t="13168" r="7306" b="14839"/>
          <a:stretch/>
        </p:blipFill>
        <p:spPr bwMode="auto">
          <a:xfrm>
            <a:off x="7848600" y="87504"/>
            <a:ext cx="1066800" cy="90445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1">
            <a:extLst>
              <a:ext uri="{FF2B5EF4-FFF2-40B4-BE49-F238E27FC236}">
                <a16:creationId xmlns:a16="http://schemas.microsoft.com/office/drawing/2014/main" id="{759158DA-198E-6418-C945-6C0BA3BBD9BC}"/>
              </a:ext>
            </a:extLst>
          </p:cNvPr>
          <p:cNvSpPr>
            <a:spLocks noGrp="1" noChangeArrowheads="1"/>
          </p:cNvSpPr>
          <p:nvPr>
            <p:ph idx="1"/>
          </p:nvPr>
        </p:nvSpPr>
        <p:spPr bwMode="auto">
          <a:xfrm>
            <a:off x="228600" y="2001446"/>
            <a:ext cx="28956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1.Input Video</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2.Frame Extraction</a:t>
            </a: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3.Human Detection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4.Emotion Analysis</a:t>
            </a: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5.Behavior Analysis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6.Score Calculation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7.Classification Output</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3F597-EAF6-157A-56FD-D3798E0731BC}"/>
              </a:ext>
            </a:extLst>
          </p:cNvPr>
          <p:cNvSpPr>
            <a:spLocks noGrp="1"/>
          </p:cNvSpPr>
          <p:nvPr>
            <p:ph type="title"/>
          </p:nvPr>
        </p:nvSpPr>
        <p:spPr/>
        <p:txBody>
          <a:bodyPr/>
          <a:lstStyle/>
          <a:p>
            <a:r>
              <a:rPr lang="en-US" dirty="0"/>
              <a:t>PROCESS MODEL</a:t>
            </a:r>
            <a:endParaRPr lang="en-IN" dirty="0"/>
          </a:p>
        </p:txBody>
      </p:sp>
      <p:sp>
        <p:nvSpPr>
          <p:cNvPr id="4" name="Footer Placeholder 3">
            <a:extLst>
              <a:ext uri="{FF2B5EF4-FFF2-40B4-BE49-F238E27FC236}">
                <a16:creationId xmlns:a16="http://schemas.microsoft.com/office/drawing/2014/main" id="{2C2BF93F-1026-4B0C-4F80-EF97EA86333D}"/>
              </a:ext>
            </a:extLst>
          </p:cNvPr>
          <p:cNvSpPr>
            <a:spLocks noGrp="1"/>
          </p:cNvSpPr>
          <p:nvPr>
            <p:ph type="ftr" sz="quarter" idx="11"/>
          </p:nvPr>
        </p:nvSpPr>
        <p:spPr/>
        <p:txBody>
          <a:bodyPr/>
          <a:lstStyle/>
          <a:p>
            <a:pPr>
              <a:defRPr/>
            </a:pPr>
            <a:r>
              <a:rPr lang="en-US" dirty="0"/>
              <a:t>DEPARTMENT OF CSE MINI PROJECT REVIEW</a:t>
            </a:r>
          </a:p>
        </p:txBody>
      </p:sp>
      <p:sp>
        <p:nvSpPr>
          <p:cNvPr id="5" name="Slide Number Placeholder 4">
            <a:extLst>
              <a:ext uri="{FF2B5EF4-FFF2-40B4-BE49-F238E27FC236}">
                <a16:creationId xmlns:a16="http://schemas.microsoft.com/office/drawing/2014/main" id="{73D7C189-26A8-545D-8384-840DBA108FC0}"/>
              </a:ext>
            </a:extLst>
          </p:cNvPr>
          <p:cNvSpPr>
            <a:spLocks noGrp="1"/>
          </p:cNvSpPr>
          <p:nvPr>
            <p:ph type="sldNum" sz="quarter" idx="12"/>
          </p:nvPr>
        </p:nvSpPr>
        <p:spPr/>
        <p:txBody>
          <a:bodyPr/>
          <a:lstStyle/>
          <a:p>
            <a:fld id="{E021BEF2-95F5-417E-9097-980329164CCD}" type="slidenum">
              <a:rPr lang="en-US" altLang="en-US" smtClean="0"/>
              <a:pPr/>
              <a:t>9</a:t>
            </a:fld>
            <a:endParaRPr lang="en-US" altLang="en-US"/>
          </a:p>
        </p:txBody>
      </p:sp>
      <p:pic>
        <p:nvPicPr>
          <p:cNvPr id="10" name="Content Placeholder 9">
            <a:extLst>
              <a:ext uri="{FF2B5EF4-FFF2-40B4-BE49-F238E27FC236}">
                <a16:creationId xmlns:a16="http://schemas.microsoft.com/office/drawing/2014/main" id="{864D3FCC-08EA-EF48-71E7-ABFA7E6E8126}"/>
              </a:ext>
            </a:extLst>
          </p:cNvPr>
          <p:cNvPicPr>
            <a:picLocks noGrp="1" noChangeAspect="1"/>
          </p:cNvPicPr>
          <p:nvPr>
            <p:ph idx="1"/>
          </p:nvPr>
        </p:nvPicPr>
        <p:blipFill>
          <a:blip r:embed="rId2"/>
          <a:stretch>
            <a:fillRect/>
          </a:stretch>
        </p:blipFill>
        <p:spPr>
          <a:xfrm>
            <a:off x="304800" y="1600200"/>
            <a:ext cx="8610600" cy="4525963"/>
          </a:xfrm>
          <a:prstGeom prst="rect">
            <a:avLst/>
          </a:prstGeom>
        </p:spPr>
      </p:pic>
    </p:spTree>
    <p:extLst>
      <p:ext uri="{BB962C8B-B14F-4D97-AF65-F5344CB8AC3E}">
        <p14:creationId xmlns:p14="http://schemas.microsoft.com/office/powerpoint/2010/main" val="1293802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095" y="227039"/>
            <a:ext cx="7638305" cy="611161"/>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Architectural Diagram</a:t>
            </a:r>
          </a:p>
        </p:txBody>
      </p:sp>
      <p:sp>
        <p:nvSpPr>
          <p:cNvPr id="5" name="Slide Number Placeholder 4"/>
          <p:cNvSpPr>
            <a:spLocks noGrp="1"/>
          </p:cNvSpPr>
          <p:nvPr>
            <p:ph type="sldNum" sz="quarter" idx="12"/>
          </p:nvPr>
        </p:nvSpPr>
        <p:spPr>
          <a:xfrm>
            <a:off x="7010400" y="6492875"/>
            <a:ext cx="2133600" cy="365125"/>
          </a:xfrm>
        </p:spPr>
        <p:txBody>
          <a:bodyPr/>
          <a:lstStyle/>
          <a:p>
            <a:fld id="{B6F15528-21DE-4FAA-801E-634DDDAF4B2B}" type="slidenum">
              <a:rPr lang="en-US"/>
              <a:pPr/>
              <a:t>10</a:t>
            </a:fld>
            <a:endParaRPr lang="en-US" dirty="0"/>
          </a:p>
        </p:txBody>
      </p:sp>
      <p:sp>
        <p:nvSpPr>
          <p:cNvPr id="6" name="Content Placeholder 2">
            <a:extLst>
              <a:ext uri="{FF2B5EF4-FFF2-40B4-BE49-F238E27FC236}">
                <a16:creationId xmlns:a16="http://schemas.microsoft.com/office/drawing/2014/main" id="{153F79F9-1FE0-3DCC-383B-AD9CC039F066}"/>
              </a:ext>
            </a:extLst>
          </p:cNvPr>
          <p:cNvSpPr txBox="1">
            <a:spLocks/>
          </p:cNvSpPr>
          <p:nvPr/>
        </p:nvSpPr>
        <p:spPr bwMode="auto">
          <a:xfrm>
            <a:off x="190500" y="1081881"/>
            <a:ext cx="8877300" cy="5639594"/>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lvl="0" indent="0" eaLnBrk="0" hangingPunct="0">
              <a:spcBef>
                <a:spcPct val="0"/>
              </a:spcBef>
              <a:buNone/>
            </a:pPr>
            <a:endParaRPr lang="en-US" altLang="en-US" sz="2800" dirty="0">
              <a:solidFill>
                <a:schemeClr val="tx1"/>
              </a:solidFill>
              <a:latin typeface="Arial" panose="020B0604020202020204" pitchFamily="34" charset="0"/>
              <a:cs typeface="Calibri"/>
            </a:endParaRPr>
          </a:p>
          <a:p>
            <a:pPr eaLnBrk="0" hangingPunct="0">
              <a:spcBef>
                <a:spcPct val="0"/>
              </a:spcBef>
            </a:pPr>
            <a:r>
              <a:rPr lang="en-US" altLang="en-US" sz="2800" dirty="0">
                <a:solidFill>
                  <a:schemeClr val="tx1"/>
                </a:solidFill>
                <a:latin typeface="Arial" panose="020B0604020202020204" pitchFamily="34" charset="0"/>
              </a:rPr>
              <a:t>Input video enters system</a:t>
            </a:r>
          </a:p>
          <a:p>
            <a:pPr marL="0" lvl="0" indent="0" eaLnBrk="0" hangingPunct="0">
              <a:spcBef>
                <a:spcPct val="0"/>
              </a:spcBef>
              <a:buFontTx/>
              <a:buChar char="•"/>
            </a:pPr>
            <a:r>
              <a:rPr lang="en-US" altLang="en-US" sz="2800" dirty="0">
                <a:solidFill>
                  <a:schemeClr val="tx1"/>
                </a:solidFill>
                <a:latin typeface="Arial" panose="020B0604020202020204" pitchFamily="34" charset="0"/>
              </a:rPr>
              <a:t>YOLOv8 detects humans</a:t>
            </a:r>
          </a:p>
          <a:p>
            <a:pPr marL="0" lvl="0" indent="0" eaLnBrk="0" hangingPunct="0">
              <a:spcBef>
                <a:spcPct val="0"/>
              </a:spcBef>
              <a:buFontTx/>
              <a:buChar char="•"/>
            </a:pPr>
            <a:r>
              <a:rPr lang="en-US" altLang="en-US" sz="2800" dirty="0" err="1">
                <a:solidFill>
                  <a:schemeClr val="tx1"/>
                </a:solidFill>
                <a:latin typeface="Arial" panose="020B0604020202020204" pitchFamily="34" charset="0"/>
              </a:rPr>
              <a:t>DeepFace</a:t>
            </a:r>
            <a:r>
              <a:rPr lang="en-US" altLang="en-US" sz="2800" dirty="0">
                <a:solidFill>
                  <a:schemeClr val="tx1"/>
                </a:solidFill>
                <a:latin typeface="Arial" panose="020B0604020202020204" pitchFamily="34" charset="0"/>
              </a:rPr>
              <a:t> extracts emotion</a:t>
            </a:r>
          </a:p>
          <a:p>
            <a:pPr marL="0" lvl="0" indent="0" eaLnBrk="0" hangingPunct="0">
              <a:spcBef>
                <a:spcPct val="0"/>
              </a:spcBef>
              <a:buFontTx/>
              <a:buChar char="•"/>
            </a:pPr>
            <a:r>
              <a:rPr lang="en-US" altLang="en-US" sz="2800" dirty="0" err="1">
                <a:solidFill>
                  <a:schemeClr val="tx1"/>
                </a:solidFill>
                <a:latin typeface="Arial" panose="020B0604020202020204" pitchFamily="34" charset="0"/>
              </a:rPr>
              <a:t>MediaPipe</a:t>
            </a:r>
            <a:r>
              <a:rPr lang="en-US" altLang="en-US" sz="2800" dirty="0">
                <a:solidFill>
                  <a:schemeClr val="tx1"/>
                </a:solidFill>
                <a:latin typeface="Arial" panose="020B0604020202020204" pitchFamily="34" charset="0"/>
              </a:rPr>
              <a:t> extracts pose</a:t>
            </a:r>
          </a:p>
          <a:p>
            <a:pPr marL="0" lvl="0" indent="0" eaLnBrk="0" hangingPunct="0">
              <a:spcBef>
                <a:spcPct val="0"/>
              </a:spcBef>
              <a:buFontTx/>
              <a:buChar char="•"/>
            </a:pPr>
            <a:r>
              <a:rPr lang="en-US" altLang="en-US" sz="2800" dirty="0">
                <a:solidFill>
                  <a:schemeClr val="tx1"/>
                </a:solidFill>
                <a:latin typeface="Arial" panose="020B0604020202020204" pitchFamily="34" charset="0"/>
              </a:rPr>
              <a:t>Scores are combined</a:t>
            </a:r>
          </a:p>
          <a:p>
            <a:pPr marL="0" lvl="0" indent="0" eaLnBrk="0" hangingPunct="0">
              <a:spcBef>
                <a:spcPct val="0"/>
              </a:spcBef>
              <a:buFontTx/>
              <a:buChar char="•"/>
            </a:pPr>
            <a:r>
              <a:rPr lang="en-US" altLang="en-US" sz="2800" dirty="0">
                <a:solidFill>
                  <a:schemeClr val="tx1"/>
                </a:solidFill>
                <a:latin typeface="Arial" panose="020B0604020202020204" pitchFamily="34" charset="0"/>
              </a:rPr>
              <a:t>Final decision: Normal</a:t>
            </a:r>
          </a:p>
          <a:p>
            <a:pPr marL="0" lvl="0" indent="0" eaLnBrk="0" hangingPunct="0">
              <a:spcBef>
                <a:spcPct val="0"/>
              </a:spcBef>
              <a:buFontTx/>
              <a:buChar char="•"/>
            </a:pPr>
            <a:r>
              <a:rPr lang="en-US" altLang="en-US" sz="2800" dirty="0">
                <a:solidFill>
                  <a:schemeClr val="tx1"/>
                </a:solidFill>
                <a:latin typeface="Arial" panose="020B0604020202020204" pitchFamily="34" charset="0"/>
              </a:rPr>
              <a:t> / Suspicious</a:t>
            </a:r>
          </a:p>
          <a:p>
            <a:pPr fontAlgn="auto">
              <a:spcAft>
                <a:spcPts val="0"/>
              </a:spcAft>
              <a:buFont typeface="Arial" panose="020B0604020202020204" pitchFamily="34" charset="0"/>
              <a:buNone/>
              <a:defRPr/>
            </a:pPr>
            <a:endParaRPr lang="en-US" sz="2800" dirty="0">
              <a:cs typeface="Calibri"/>
            </a:endParaRPr>
          </a:p>
        </p:txBody>
      </p:sp>
      <p:sp>
        <p:nvSpPr>
          <p:cNvPr id="8"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a:t>
            </a:r>
          </a:p>
        </p:txBody>
      </p:sp>
      <p:pic>
        <p:nvPicPr>
          <p:cNvPr id="9" name="Picture 2" descr="C:\Users\User\Downloads\VCE LOGO.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7779" t="13168" r="7306" b="14839"/>
          <a:stretch/>
        </p:blipFill>
        <p:spPr bwMode="auto">
          <a:xfrm>
            <a:off x="7848600" y="87504"/>
            <a:ext cx="1066800" cy="904459"/>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2">
            <a:extLst>
              <a:ext uri="{FF2B5EF4-FFF2-40B4-BE49-F238E27FC236}">
                <a16:creationId xmlns:a16="http://schemas.microsoft.com/office/drawing/2014/main" id="{A23207E5-90E9-A980-C5EA-E0A87F0A45A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D2ADCB2-1F19-239F-7D98-69BFFEBF1755}"/>
              </a:ext>
            </a:extLst>
          </p:cNvPr>
          <p:cNvSpPr>
            <a:spLocks noGrp="1"/>
          </p:cNvSpPr>
          <p:nvPr>
            <p:ph type="ftr" sz="quarter" idx="11"/>
          </p:nvPr>
        </p:nvSpPr>
        <p:spPr/>
        <p:txBody>
          <a:bodyPr/>
          <a:lstStyle/>
          <a:p>
            <a:pPr>
              <a:defRPr/>
            </a:pPr>
            <a:r>
              <a:rPr lang="en-US" dirty="0"/>
              <a:t>DEPARTMENT OF CSE MINI PROJECT REVIEW</a:t>
            </a:r>
          </a:p>
        </p:txBody>
      </p:sp>
      <p:sp>
        <p:nvSpPr>
          <p:cNvPr id="5" name="Slide Number Placeholder 4">
            <a:extLst>
              <a:ext uri="{FF2B5EF4-FFF2-40B4-BE49-F238E27FC236}">
                <a16:creationId xmlns:a16="http://schemas.microsoft.com/office/drawing/2014/main" id="{2EAA60A2-44FB-D656-6D43-9C7F3E05BCE6}"/>
              </a:ext>
            </a:extLst>
          </p:cNvPr>
          <p:cNvSpPr>
            <a:spLocks noGrp="1"/>
          </p:cNvSpPr>
          <p:nvPr>
            <p:ph type="sldNum" sz="quarter" idx="12"/>
          </p:nvPr>
        </p:nvSpPr>
        <p:spPr/>
        <p:txBody>
          <a:bodyPr/>
          <a:lstStyle/>
          <a:p>
            <a:fld id="{E021BEF2-95F5-417E-9097-980329164CCD}" type="slidenum">
              <a:rPr lang="en-US" altLang="en-US" smtClean="0"/>
              <a:pPr/>
              <a:t>11</a:t>
            </a:fld>
            <a:endParaRPr lang="en-US" altLang="en-US"/>
          </a:p>
        </p:txBody>
      </p:sp>
      <p:pic>
        <p:nvPicPr>
          <p:cNvPr id="14" name="Content Placeholder 13">
            <a:extLst>
              <a:ext uri="{FF2B5EF4-FFF2-40B4-BE49-F238E27FC236}">
                <a16:creationId xmlns:a16="http://schemas.microsoft.com/office/drawing/2014/main" id="{9F352AE8-C994-CD06-DB90-43FF575A99F5}"/>
              </a:ext>
            </a:extLst>
          </p:cNvPr>
          <p:cNvPicPr>
            <a:picLocks noGrp="1" noChangeAspect="1"/>
          </p:cNvPicPr>
          <p:nvPr>
            <p:ph idx="1"/>
          </p:nvPr>
        </p:nvPicPr>
        <p:blipFill>
          <a:blip r:embed="rId2"/>
          <a:stretch>
            <a:fillRect/>
          </a:stretch>
        </p:blipFill>
        <p:spPr bwMode="auto">
          <a:xfrm>
            <a:off x="0" y="0"/>
            <a:ext cx="9067800" cy="612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83062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891" y="510972"/>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PROPOSED METHOD AND ALGORITHMS</a:t>
            </a:r>
          </a:p>
        </p:txBody>
      </p:sp>
      <p:sp>
        <p:nvSpPr>
          <p:cNvPr id="5" name="Slide Number Placeholder 4"/>
          <p:cNvSpPr>
            <a:spLocks noGrp="1"/>
          </p:cNvSpPr>
          <p:nvPr>
            <p:ph type="sldNum" sz="quarter" idx="12"/>
          </p:nvPr>
        </p:nvSpPr>
        <p:spPr/>
        <p:txBody>
          <a:bodyPr/>
          <a:lstStyle/>
          <a:p>
            <a:fld id="{B6F15528-21DE-4FAA-801E-634DDDAF4B2B}" type="slidenum">
              <a:rPr lang="en-US"/>
              <a:pPr/>
              <a:t>12</a:t>
            </a:fld>
            <a:endParaRPr lang="en-US" dirty="0"/>
          </a:p>
        </p:txBody>
      </p:sp>
      <mc:AlternateContent xmlns:mc="http://schemas.openxmlformats.org/markup-compatibility/2006" xmlns:a14="http://schemas.microsoft.com/office/drawing/2010/main">
        <mc:Choice Requires="a14">
          <p:sp>
            <p:nvSpPr>
              <p:cNvPr id="8" name="Content Placeholder 7"/>
              <p:cNvSpPr>
                <a:spLocks noGrp="1"/>
              </p:cNvSpPr>
              <p:nvPr>
                <p:ph idx="1"/>
              </p:nvPr>
            </p:nvSpPr>
            <p:spPr>
              <a:ln w="28575"/>
            </p:spPr>
            <p:txBody>
              <a:bodyPr/>
              <a:lstStyle/>
              <a:p>
                <a:r>
                  <a:rPr lang="en-IN" sz="1800" b="1" dirty="0"/>
                  <a:t>YOLOv8 Algorithm</a:t>
                </a:r>
                <a:endParaRPr lang="en-IN" sz="1800" dirty="0"/>
              </a:p>
              <a:p>
                <a:pPr lvl="1"/>
                <a:r>
                  <a:rPr lang="en-IN" sz="1800" dirty="0"/>
                  <a:t>Detects humans in each frame</a:t>
                </a:r>
              </a:p>
              <a:p>
                <a:pPr lvl="1"/>
                <a:r>
                  <a:rPr lang="en-IN" sz="1800" dirty="0"/>
                  <a:t>Provides bounding boxes</a:t>
                </a:r>
              </a:p>
              <a:p>
                <a:r>
                  <a:rPr lang="en-IN" sz="1800" b="1" dirty="0" err="1"/>
                  <a:t>DeepFace</a:t>
                </a:r>
                <a:r>
                  <a:rPr lang="en-IN" sz="1800" b="1" dirty="0"/>
                  <a:t> Algorithm</a:t>
                </a:r>
                <a:endParaRPr lang="en-IN" sz="1800" dirty="0"/>
              </a:p>
              <a:p>
                <a:pPr lvl="1"/>
                <a:r>
                  <a:rPr lang="en-IN" sz="1800" dirty="0"/>
                  <a:t>Extracts facial features</a:t>
                </a:r>
              </a:p>
              <a:p>
                <a:pPr lvl="1"/>
                <a:r>
                  <a:rPr lang="en-IN" sz="1800" dirty="0"/>
                  <a:t>Predicts emotion scores</a:t>
                </a:r>
              </a:p>
              <a:p>
                <a:r>
                  <a:rPr lang="en-IN" sz="1800" b="1" dirty="0" err="1"/>
                  <a:t>MediaPipe</a:t>
                </a:r>
                <a:r>
                  <a:rPr lang="en-IN" sz="1800" b="1" dirty="0"/>
                  <a:t> Pose</a:t>
                </a:r>
                <a:endParaRPr lang="en-IN" sz="1800" dirty="0"/>
              </a:p>
              <a:p>
                <a:pPr lvl="1"/>
                <a:r>
                  <a:rPr lang="en-IN" sz="1800" dirty="0"/>
                  <a:t>Detects body </a:t>
                </a:r>
                <a:r>
                  <a:rPr lang="en-IN" sz="1800" dirty="0" err="1"/>
                  <a:t>keypoints</a:t>
                </a:r>
                <a:endParaRPr lang="en-IN" sz="1800" dirty="0"/>
              </a:p>
              <a:p>
                <a:pPr lvl="1"/>
                <a:r>
                  <a:rPr lang="en-IN" sz="1800" dirty="0" err="1"/>
                  <a:t>Analyzes</a:t>
                </a:r>
                <a:r>
                  <a:rPr lang="en-IN" sz="1800" dirty="0"/>
                  <a:t> posture and movement</a:t>
                </a:r>
              </a:p>
              <a:p>
                <a:r>
                  <a:rPr lang="en-IN" sz="1800" b="1" dirty="0"/>
                  <a:t>Suspicious Score Calculation</a:t>
                </a:r>
                <a:endParaRPr lang="en-IN" sz="1800" dirty="0"/>
              </a:p>
              <a:p>
                <a14:m>
                  <m:oMath xmlns:m="http://schemas.openxmlformats.org/officeDocument/2006/math">
                    <m:r>
                      <a:rPr lang="en-IN" sz="1800" i="1">
                        <a:latin typeface="Cambria Math" panose="02040503050406030204" pitchFamily="18" charset="0"/>
                      </a:rPr>
                      <m:t>𝑆</m:t>
                    </m:r>
                    <m:r>
                      <a:rPr lang="en-IN" sz="1800">
                        <a:latin typeface="Cambria Math" panose="02040503050406030204" pitchFamily="18" charset="0"/>
                      </a:rPr>
                      <m:t>=0.1</m:t>
                    </m:r>
                    <m:r>
                      <a:rPr lang="en-IN" sz="1800" i="1">
                        <a:latin typeface="Cambria Math" panose="02040503050406030204" pitchFamily="18" charset="0"/>
                      </a:rPr>
                      <m:t>𝐸</m:t>
                    </m:r>
                    <m:r>
                      <a:rPr lang="en-IN" sz="1800">
                        <a:latin typeface="Cambria Math" panose="02040503050406030204" pitchFamily="18" charset="0"/>
                      </a:rPr>
                      <m:t>+0.9</m:t>
                    </m:r>
                    <m:r>
                      <a:rPr lang="en-IN" sz="1800" i="1">
                        <a:latin typeface="Cambria Math" panose="02040503050406030204" pitchFamily="18" charset="0"/>
                      </a:rPr>
                      <m:t>𝐵</m:t>
                    </m:r>
                  </m:oMath>
                </a14:m>
                <a:endParaRPr lang="en-IN" sz="1800" dirty="0"/>
              </a:p>
              <a:p>
                <a:r>
                  <a:rPr lang="en-IN" sz="1800" b="1" dirty="0"/>
                  <a:t>Decision Rule</a:t>
                </a:r>
                <a:endParaRPr lang="en-IN" sz="1800" dirty="0"/>
              </a:p>
              <a:p>
                <a:pPr lvl="1"/>
                <a:r>
                  <a:rPr lang="en-IN" sz="1800" dirty="0"/>
                  <a:t>If score ≥ threshold → Suspicious</a:t>
                </a:r>
              </a:p>
              <a:p>
                <a:pPr lvl="1"/>
                <a:r>
                  <a:rPr lang="en-IN" sz="1800" dirty="0"/>
                  <a:t>Else → Normal</a:t>
                </a:r>
              </a:p>
              <a:p>
                <a:endParaRPr lang="en-US" sz="2000" b="1" dirty="0"/>
              </a:p>
            </p:txBody>
          </p:sp>
        </mc:Choice>
        <mc:Fallback xmlns="">
          <p:sp>
            <p:nvSpPr>
              <p:cNvPr id="8" name="Content Placeholder 7"/>
              <p:cNvSpPr>
                <a:spLocks noGrp="1" noRot="1" noChangeAspect="1" noMove="1" noResize="1" noEditPoints="1" noAdjustHandles="1" noChangeArrowheads="1" noChangeShapeType="1" noTextEdit="1"/>
              </p:cNvSpPr>
              <p:nvPr>
                <p:ph idx="1"/>
              </p:nvPr>
            </p:nvSpPr>
            <p:spPr>
              <a:blipFill>
                <a:blip r:embed="rId2"/>
                <a:stretch>
                  <a:fillRect l="-444" t="-809" b="-4717"/>
                </a:stretch>
              </a:blipFill>
              <a:ln w="28575"/>
            </p:spPr>
            <p:txBody>
              <a:bodyPr/>
              <a:lstStyle/>
              <a:p>
                <a:r>
                  <a:rPr lang="en-IN">
                    <a:noFill/>
                  </a:rPr>
                  <a:t> </a:t>
                </a:r>
              </a:p>
            </p:txBody>
          </p:sp>
        </mc:Fallback>
      </mc:AlternateContent>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a:t>
            </a:r>
          </a:p>
        </p:txBody>
      </p:sp>
      <p:pic>
        <p:nvPicPr>
          <p:cNvPr id="9" name="Picture 2" descr="C:\Users\User\Downloads\VCE LOGO.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779" t="13168" r="7306" b="14839"/>
          <a:stretch/>
        </p:blipFill>
        <p:spPr bwMode="auto">
          <a:xfrm>
            <a:off x="7848600" y="87504"/>
            <a:ext cx="1066800" cy="90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962246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5269C-8A3D-CE72-04A1-466875AA19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15838B-118C-5D81-DD79-8814008AFDB5}"/>
              </a:ext>
            </a:extLst>
          </p:cNvPr>
          <p:cNvSpPr>
            <a:spLocks noGrp="1"/>
          </p:cNvSpPr>
          <p:nvPr>
            <p:ph type="title"/>
          </p:nvPr>
        </p:nvSpPr>
        <p:spPr>
          <a:xfrm>
            <a:off x="432891" y="510972"/>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PROPOSED METHOD AND ALGORITHMS</a:t>
            </a:r>
          </a:p>
        </p:txBody>
      </p:sp>
      <p:sp>
        <p:nvSpPr>
          <p:cNvPr id="5" name="Slide Number Placeholder 4">
            <a:extLst>
              <a:ext uri="{FF2B5EF4-FFF2-40B4-BE49-F238E27FC236}">
                <a16:creationId xmlns:a16="http://schemas.microsoft.com/office/drawing/2014/main" id="{9E08FA29-D086-DC8E-7364-FF058301700C}"/>
              </a:ext>
            </a:extLst>
          </p:cNvPr>
          <p:cNvSpPr>
            <a:spLocks noGrp="1"/>
          </p:cNvSpPr>
          <p:nvPr>
            <p:ph type="sldNum" sz="quarter" idx="12"/>
          </p:nvPr>
        </p:nvSpPr>
        <p:spPr/>
        <p:txBody>
          <a:bodyPr/>
          <a:lstStyle/>
          <a:p>
            <a:fld id="{B6F15528-21DE-4FAA-801E-634DDDAF4B2B}" type="slidenum">
              <a:rPr lang="en-US"/>
              <a:pPr/>
              <a:t>13</a:t>
            </a:fld>
            <a:endParaRPr lang="en-US" dirty="0"/>
          </a:p>
        </p:txBody>
      </p:sp>
      <p:pic>
        <p:nvPicPr>
          <p:cNvPr id="4" name="Content Placeholder 3">
            <a:extLst>
              <a:ext uri="{FF2B5EF4-FFF2-40B4-BE49-F238E27FC236}">
                <a16:creationId xmlns:a16="http://schemas.microsoft.com/office/drawing/2014/main" id="{37FB85D6-BB50-0598-3E75-D591C4C9EA0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56036" y="1600200"/>
            <a:ext cx="3231928" cy="4525963"/>
          </a:xfrm>
          <a:ln w="28575"/>
        </p:spPr>
      </p:pic>
      <p:sp>
        <p:nvSpPr>
          <p:cNvPr id="7" name="Footer Placeholder 6">
            <a:extLst>
              <a:ext uri="{FF2B5EF4-FFF2-40B4-BE49-F238E27FC236}">
                <a16:creationId xmlns:a16="http://schemas.microsoft.com/office/drawing/2014/main" id="{C6B347A7-C1CA-80E4-777A-4BDE4D98F865}"/>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a:t>
            </a:r>
          </a:p>
        </p:txBody>
      </p:sp>
      <p:pic>
        <p:nvPicPr>
          <p:cNvPr id="9" name="Picture 2" descr="C:\Users\User\Downloads\VCE LOGO.jpg">
            <a:extLst>
              <a:ext uri="{FF2B5EF4-FFF2-40B4-BE49-F238E27FC236}">
                <a16:creationId xmlns:a16="http://schemas.microsoft.com/office/drawing/2014/main" id="{BE53F923-BBFA-AD7F-B610-FAE2763A9755}"/>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779" t="13168" r="7306" b="14839"/>
          <a:stretch/>
        </p:blipFill>
        <p:spPr bwMode="auto">
          <a:xfrm>
            <a:off x="7848600" y="87504"/>
            <a:ext cx="1066800" cy="90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669649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49063"/>
            <a:ext cx="7315200" cy="685800"/>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Results</a:t>
            </a:r>
          </a:p>
        </p:txBody>
      </p:sp>
      <p:sp>
        <p:nvSpPr>
          <p:cNvPr id="5" name="Slide Number Placeholder 4"/>
          <p:cNvSpPr>
            <a:spLocks noGrp="1"/>
          </p:cNvSpPr>
          <p:nvPr>
            <p:ph type="sldNum" sz="quarter" idx="12"/>
          </p:nvPr>
        </p:nvSpPr>
        <p:spPr/>
        <p:txBody>
          <a:bodyPr/>
          <a:lstStyle/>
          <a:p>
            <a:fld id="{B6F15528-21DE-4FAA-801E-634DDDAF4B2B}" type="slidenum">
              <a:rPr lang="en-US"/>
              <a:pPr/>
              <a:t>14</a:t>
            </a:fld>
            <a:endParaRPr lang="en-US"/>
          </a:p>
        </p:txBody>
      </p:sp>
      <p:sp>
        <p:nvSpPr>
          <p:cNvPr id="8" name="Content Placeholder 7"/>
          <p:cNvSpPr>
            <a:spLocks noGrp="1"/>
          </p:cNvSpPr>
          <p:nvPr>
            <p:ph idx="1"/>
          </p:nvPr>
        </p:nvSpPr>
        <p:spPr>
          <a:ln w="28575">
            <a:solidFill>
              <a:schemeClr val="accent1"/>
            </a:solidFill>
          </a:ln>
        </p:spPr>
        <p:txBody>
          <a:bodyPr/>
          <a:lstStyle/>
          <a:p>
            <a:r>
              <a:rPr lang="en-US" dirty="0"/>
              <a:t>Model evaluated on surveillance videos</a:t>
            </a:r>
          </a:p>
          <a:p>
            <a:r>
              <a:rPr lang="en-US" dirty="0"/>
              <a:t>Achieved best accuracy of 83%</a:t>
            </a:r>
          </a:p>
          <a:p>
            <a:r>
              <a:rPr lang="en-US" dirty="0"/>
              <a:t>Improved performance over base model</a:t>
            </a:r>
          </a:p>
          <a:p>
            <a:r>
              <a:rPr lang="en-US" dirty="0"/>
              <a:t>Behavioral weighting improved detection</a:t>
            </a:r>
          </a:p>
          <a:p>
            <a:r>
              <a:rPr lang="en-US" dirty="0"/>
              <a:t>System successfully distinguishes activity types.</a:t>
            </a:r>
          </a:p>
        </p:txBody>
      </p:sp>
      <p:sp>
        <p:nvSpPr>
          <p:cNvPr id="4"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a:t>
            </a:r>
          </a:p>
        </p:txBody>
      </p:sp>
      <p:pic>
        <p:nvPicPr>
          <p:cNvPr id="7" name="Picture 2" descr="C:\Users\User\Downloads\VCE LOGO.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7779" t="13168" r="7306" b="14839"/>
          <a:stretch/>
        </p:blipFill>
        <p:spPr bwMode="auto">
          <a:xfrm>
            <a:off x="7848600" y="87504"/>
            <a:ext cx="1066800" cy="90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066220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67294"/>
            <a:ext cx="6934200" cy="675705"/>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Conclusion</a:t>
            </a:r>
          </a:p>
        </p:txBody>
      </p:sp>
      <p:sp>
        <p:nvSpPr>
          <p:cNvPr id="5" name="Slide Number Placeholder 4"/>
          <p:cNvSpPr>
            <a:spLocks noGrp="1"/>
          </p:cNvSpPr>
          <p:nvPr>
            <p:ph type="sldNum" sz="quarter" idx="12"/>
          </p:nvPr>
        </p:nvSpPr>
        <p:spPr/>
        <p:txBody>
          <a:bodyPr/>
          <a:lstStyle/>
          <a:p>
            <a:fld id="{B6F15528-21DE-4FAA-801E-634DDDAF4B2B}" type="slidenum">
              <a:rPr lang="en-US"/>
              <a:pPr/>
              <a:t>15</a:t>
            </a:fld>
            <a:endParaRPr lang="en-US"/>
          </a:p>
        </p:txBody>
      </p:sp>
      <p:sp>
        <p:nvSpPr>
          <p:cNvPr id="8" name="Content Placeholder 7"/>
          <p:cNvSpPr>
            <a:spLocks noGrp="1"/>
          </p:cNvSpPr>
          <p:nvPr>
            <p:ph idx="1"/>
          </p:nvPr>
        </p:nvSpPr>
        <p:spPr>
          <a:ln w="28575">
            <a:solidFill>
              <a:schemeClr val="tx2"/>
            </a:solidFill>
          </a:ln>
        </p:spPr>
        <p:txBody>
          <a:bodyPr/>
          <a:lstStyle/>
          <a:p>
            <a:pPr algn="just">
              <a:lnSpc>
                <a:spcPct val="150000"/>
              </a:lnSpc>
            </a:pPr>
            <a:r>
              <a:rPr lang="en-US" sz="2000" dirty="0">
                <a:latin typeface="Times New Roman" panose="02020603050405020304" pitchFamily="18" charset="0"/>
                <a:cs typeface="Times New Roman" panose="02020603050405020304" pitchFamily="18" charset="0"/>
              </a:rPr>
              <a:t>The project successfully demonstrates an AI-based surveillance system capable of detecting suspicious activities by combining emotional and behavioral analysis. The proposed weighted scoring mechanism improves detection performance by prioritizing behavioral cues. The system provides a practical approach toward intelligent automated surveillance and can be further extended for real-time applications.</a:t>
            </a:r>
          </a:p>
        </p:txBody>
      </p:sp>
      <p:sp>
        <p:nvSpPr>
          <p:cNvPr id="4"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a:t>
            </a:r>
          </a:p>
        </p:txBody>
      </p:sp>
      <p:pic>
        <p:nvPicPr>
          <p:cNvPr id="7" name="Picture 2" descr="C:\Users\User\Downloads\VCE LOGO.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7779" t="13168" r="7306" b="14839"/>
          <a:stretch/>
        </p:blipFill>
        <p:spPr bwMode="auto">
          <a:xfrm>
            <a:off x="7848600" y="87504"/>
            <a:ext cx="1066800" cy="90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569294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BDA53F-B02D-4760-90B7-DB325626B21F}"/>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rmAutofit/>
          </a:bodyPr>
          <a:lstStyle/>
          <a:p>
            <a:pPr marL="514350" indent="-514350" fontAlgn="auto">
              <a:spcAft>
                <a:spcPts val="0"/>
              </a:spcAft>
              <a:buFont typeface="Arial" panose="020B0604020202020204" pitchFamily="34" charset="0"/>
              <a:buNone/>
              <a:defRPr/>
            </a:pPr>
            <a:endParaRPr lang="en-US" sz="3600" b="1" dirty="0"/>
          </a:p>
          <a:p>
            <a:pPr marL="514350" indent="-514350" fontAlgn="auto">
              <a:spcAft>
                <a:spcPts val="0"/>
              </a:spcAft>
              <a:buFont typeface="Arial" panose="020B0604020202020204" pitchFamily="34" charset="0"/>
              <a:buNone/>
              <a:defRPr/>
            </a:pPr>
            <a:endParaRPr lang="en-US" sz="2800" b="1" dirty="0"/>
          </a:p>
          <a:p>
            <a:pPr marL="514350" indent="-514350" fontAlgn="auto">
              <a:spcAft>
                <a:spcPts val="0"/>
              </a:spcAft>
              <a:buFont typeface="Arial" panose="020B0604020202020204" pitchFamily="34" charset="0"/>
              <a:buNone/>
              <a:defRPr/>
            </a:pPr>
            <a:endParaRPr lang="en-US" sz="2800" b="1" dirty="0"/>
          </a:p>
          <a:p>
            <a:pPr marL="514350" indent="-514350" algn="ctr" fontAlgn="auto">
              <a:spcAft>
                <a:spcPts val="0"/>
              </a:spcAft>
              <a:buFont typeface="Arial" panose="020B0604020202020204" pitchFamily="34" charset="0"/>
              <a:buNone/>
              <a:defRPr/>
            </a:pPr>
            <a:endParaRPr lang="en-US" b="1" dirty="0"/>
          </a:p>
          <a:p>
            <a:pPr marL="514350" indent="-514350" algn="ctr" fontAlgn="auto">
              <a:spcAft>
                <a:spcPts val="0"/>
              </a:spcAft>
              <a:buFont typeface="Arial" panose="020B0604020202020204" pitchFamily="34" charset="0"/>
              <a:buNone/>
              <a:defRPr/>
            </a:pPr>
            <a:r>
              <a:rPr lang="en-US" sz="4400" b="1" dirty="0"/>
              <a:t>Thank You</a:t>
            </a:r>
          </a:p>
          <a:p>
            <a:pPr marL="514350" indent="-514350" fontAlgn="auto">
              <a:spcAft>
                <a:spcPts val="0"/>
              </a:spcAft>
              <a:buFont typeface="Arial" panose="020B0604020202020204" pitchFamily="34" charset="0"/>
              <a:buNone/>
              <a:defRPr/>
            </a:pPr>
            <a:endParaRPr lang="en-US" sz="2800" b="1" dirty="0"/>
          </a:p>
        </p:txBody>
      </p:sp>
      <p:sp>
        <p:nvSpPr>
          <p:cNvPr id="5" name="Slide Number Placeholder 4">
            <a:extLst>
              <a:ext uri="{FF2B5EF4-FFF2-40B4-BE49-F238E27FC236}">
                <a16:creationId xmlns:a16="http://schemas.microsoft.com/office/drawing/2014/main" id="{899BB240-5782-410E-A3EF-F343719E425C}"/>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518D7D88-921A-4D31-AE25-21776C2970CA}" type="slidenum">
              <a:rPr lang="en-US" altLang="en-US" dirty="0">
                <a:solidFill>
                  <a:srgbClr val="898989"/>
                </a:solidFill>
              </a:rPr>
              <a:pPr/>
              <a:t>16</a:t>
            </a:fld>
            <a:endParaRPr lang="en-US" altLang="en-US" dirty="0">
              <a:solidFill>
                <a:srgbClr val="898989"/>
              </a:solidFill>
            </a:endParaRPr>
          </a:p>
        </p:txBody>
      </p:sp>
      <p:sp>
        <p:nvSpPr>
          <p:cNvPr id="6"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a:t>
            </a:r>
          </a:p>
        </p:txBody>
      </p:sp>
      <p:pic>
        <p:nvPicPr>
          <p:cNvPr id="7" name="Picture 2" descr="C:\Users\User\Downloads\VCE LOGO.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7779" t="13168" r="7306" b="14839"/>
          <a:stretch/>
        </p:blipFill>
        <p:spPr bwMode="auto">
          <a:xfrm>
            <a:off x="3962400" y="0"/>
            <a:ext cx="1066800" cy="9044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3012</TotalTime>
  <Words>664</Words>
  <Application>Microsoft Office PowerPoint</Application>
  <PresentationFormat>On-screen Show (4:3)</PresentationFormat>
  <Paragraphs>161</Paragraphs>
  <Slides>16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Arial,Sans-Serif</vt:lpstr>
      <vt:lpstr>Calibri</vt:lpstr>
      <vt:lpstr>Cambria Math</vt:lpstr>
      <vt:lpstr>Times New Roman</vt:lpstr>
      <vt:lpstr>Office Theme</vt:lpstr>
      <vt:lpstr>    DEPARTMENT OF COMPUTER SCIENCE &amp; ENGINEERING </vt:lpstr>
      <vt:lpstr>Mini Project Review-4 Outlines</vt:lpstr>
      <vt:lpstr>Main idea of the Project</vt:lpstr>
      <vt:lpstr>Existing System Vs Proposed </vt:lpstr>
      <vt:lpstr>Proposed Project Objectives</vt:lpstr>
      <vt:lpstr>Proposed Project Outcomes</vt:lpstr>
      <vt:lpstr>Software and Hardware Requirements</vt:lpstr>
      <vt:lpstr>Process Model</vt:lpstr>
      <vt:lpstr>PROCESS MODEL</vt:lpstr>
      <vt:lpstr>Architectural Diagram</vt:lpstr>
      <vt:lpstr>PowerPoint Presentation</vt:lpstr>
      <vt:lpstr>PROPOSED METHOD AND ALGORITHMS</vt:lpstr>
      <vt:lpstr>PROPOSED METHOD AND ALGORITHMS</vt:lpstr>
      <vt:lpstr>Results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Venu Gopal Sakkera</dc:creator>
  <cp:lastModifiedBy>23881A05C6</cp:lastModifiedBy>
  <cp:revision>534</cp:revision>
  <dcterms:created xsi:type="dcterms:W3CDTF">2006-08-16T00:00:00Z</dcterms:created>
  <dcterms:modified xsi:type="dcterms:W3CDTF">2026-04-01T16:18:54Z</dcterms:modified>
</cp:coreProperties>
</file>